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5" d="100"/>
          <a:sy n="115" d="100"/>
        </p:scale>
        <p:origin x="39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411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teacher. Today I am presenting my UI/UX design case study for SAFAR, a modern travel and tour booking marketplace designed in Figma. This presentation walks through our user-centered problem, role-based architecture, user flows, design system tokens, and interactive screen designs.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46949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SAFAR solves the challenge of fragmented travel planning by creating a unified 3-sided marketplace. Travelers get a visual discovery engine, verified agencies manage their inventory without tech overhead, and platform admins maintain security and quality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83352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primary design objective was reducing cognitive load during the booking process. We identified four user friction points—from unclear pricing to fragmented management tools—and established clear design principles focused on progressive disclosure and role-based ergonomics.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7075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information architecture is segmented strictly by user intent. General tourists can browse and book without needing complex login barriers, while agency partners and platform administrators have structured, permission-gated portals tailored to data management.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50385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end-to-end booking flow designed in Figma. Notice that we avoided multi-page checkout redirects; instead, the traveler configures guests and payment within a modal dialog, keeping cognitive continuity and allowing instant return to exploration.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64141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illustrate the design progression. We first validated structural constraints with greyscale wireframing to ensure proper visual weight, before applying high-fidelity brand tokens, rich photography, and micro-interactions in Figma.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37006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strong digital product relies on atomic design tokens. In Figma, we created a comprehensive color palette with WCAG AAA contrast compliance, an Inter typography scale, and reusable component variants for buttons, inputs, and status badges.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2462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screens represent the primary traveler journey. Notice how visual hierarchy guides the user: search is always centered and inviting, package cards emphasize duration and price transparency, and the booking transaction remains contained in a clear modal.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32388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complete marketplace requires powerful backend management. We designed dedicated workspaces for both travel agencies and administrators. Agencies manage inventory and bookings, while admins oversee system health, agency accreditation, and platform earnings.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546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Responsive adaptation is central to SAFAR. In Figma, we tested layouts across 375px mobile, 768px tablet, and 1360px desktop screens. We prioritized 44-pixel touch targets, high contrast ratios, and keyboard accessibility.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00528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the SAFAR Figma case study demonstrates that clean visual hierarchy, progressive disclosure, and a rigorous design token system can turn complex travel booking into an enjoyable, trustworthy experience. Thank you very much, and I welcome your questions and feedback.</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23055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0" y="0"/>
            <a:ext cx="44192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afar-icon.png"/>
          <p:cNvPicPr>
            <a:picLocks noChangeAspect="1"/>
          </p:cNvPicPr>
          <p:nvPr/>
        </p:nvPicPr>
        <p:blipFill>
          <a:blip r:embed="rId3"/>
          <a:stretch>
            <a:fillRect/>
          </a:stretch>
        </p:blipFill>
        <p:spPr>
          <a:xfrm>
            <a:off x="914400" y="1097280"/>
            <a:ext cx="914400" cy="1051560"/>
          </a:xfrm>
          <a:prstGeom prst="rect">
            <a:avLst/>
          </a:prstGeom>
        </p:spPr>
      </p:pic>
      <p:sp>
        <p:nvSpPr>
          <p:cNvPr id="5" name="TextBox 4"/>
          <p:cNvSpPr txBox="1"/>
          <p:nvPr/>
        </p:nvSpPr>
        <p:spPr>
          <a:xfrm>
            <a:off x="914400" y="2286000"/>
            <a:ext cx="6583680" cy="2011680"/>
          </a:xfrm>
          <a:prstGeom prst="rect">
            <a:avLst/>
          </a:prstGeom>
          <a:noFill/>
        </p:spPr>
        <p:txBody>
          <a:bodyPr wrap="square" lIns="0" tIns="0" rIns="0" bIns="0">
            <a:spAutoFit/>
          </a:bodyPr>
          <a:lstStyle/>
          <a:p>
            <a:pPr>
              <a:defRPr sz="4000" b="1">
                <a:solidFill>
                  <a:srgbClr val="F97316"/>
                </a:solidFill>
                <a:latin typeface="Arial"/>
              </a:defRPr>
            </a:pPr>
            <a:r>
              <a:t>SAFAR</a:t>
            </a:r>
          </a:p>
          <a:p>
            <a:pPr>
              <a:defRPr sz="2400" b="1">
                <a:solidFill>
                  <a:srgbClr val="FFFFFF"/>
                </a:solidFill>
                <a:latin typeface="Arial"/>
              </a:defRPr>
            </a:pPr>
            <a:r>
              <a:t>Travel &amp; Tour Booking Platform</a:t>
            </a:r>
          </a:p>
          <a:p>
            <a:pPr>
              <a:spcBef>
                <a:spcPts val="800"/>
              </a:spcBef>
              <a:defRPr sz="1400">
                <a:solidFill>
                  <a:srgbClr val="64748B"/>
                </a:solidFill>
                <a:latin typeface="Arial"/>
              </a:defRPr>
            </a:pPr>
            <a:r>
              <a:t>Figma UI/UX Design Case Study &amp; System Architecture</a:t>
            </a:r>
          </a:p>
        </p:txBody>
      </p:sp>
      <p:sp>
        <p:nvSpPr>
          <p:cNvPr id="6" name="Rounded Rectangle 5"/>
          <p:cNvSpPr/>
          <p:nvPr/>
        </p:nvSpPr>
        <p:spPr>
          <a:xfrm>
            <a:off x="8046720" y="1463040"/>
            <a:ext cx="3657600" cy="40233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737360"/>
            <a:ext cx="3108960" cy="2092881"/>
          </a:xfrm>
          <a:prstGeom prst="rect">
            <a:avLst/>
          </a:prstGeom>
          <a:noFill/>
        </p:spPr>
        <p:txBody>
          <a:bodyPr wrap="square" lIns="0" tIns="0" rIns="0" bIns="0">
            <a:spAutoFit/>
          </a:bodyPr>
          <a:lstStyle/>
          <a:p>
            <a:pPr>
              <a:defRPr sz="1100" b="1">
                <a:solidFill>
                  <a:srgbClr val="F97316"/>
                </a:solidFill>
                <a:latin typeface="Arial"/>
              </a:defRPr>
            </a:pPr>
            <a:r>
              <a:rPr dirty="0"/>
              <a:t>ASSIGNMENT SUBMISSION</a:t>
            </a:r>
          </a:p>
          <a:p>
            <a:pPr>
              <a:spcBef>
                <a:spcPts val="600"/>
              </a:spcBef>
              <a:defRPr sz="900" b="1">
                <a:solidFill>
                  <a:srgbClr val="64748B"/>
                </a:solidFill>
                <a:latin typeface="Arial"/>
              </a:defRPr>
            </a:pPr>
            <a:r>
              <a:rPr dirty="0"/>
              <a:t>COURSE:</a:t>
            </a:r>
          </a:p>
          <a:p>
            <a:pPr>
              <a:defRPr sz="1100" b="1">
                <a:solidFill>
                  <a:srgbClr val="FFFFFF"/>
                </a:solidFill>
                <a:latin typeface="Arial"/>
              </a:defRPr>
            </a:pPr>
            <a:r>
              <a:rPr dirty="0" smtClean="0"/>
              <a:t>[</a:t>
            </a:r>
            <a:r>
              <a:rPr lang="en-US" dirty="0" smtClean="0"/>
              <a:t>Project on web app development</a:t>
            </a:r>
            <a:r>
              <a:rPr dirty="0" smtClean="0"/>
              <a:t>]</a:t>
            </a:r>
          </a:p>
          <a:p>
            <a:pPr>
              <a:spcBef>
                <a:spcPts val="600"/>
              </a:spcBef>
              <a:defRPr sz="900" b="1">
                <a:solidFill>
                  <a:srgbClr val="64748B"/>
                </a:solidFill>
                <a:latin typeface="Arial"/>
              </a:defRPr>
            </a:pPr>
            <a:r>
              <a:rPr dirty="0" smtClean="0"/>
              <a:t>STUDENT NAME:</a:t>
            </a:r>
          </a:p>
          <a:p>
            <a:pPr>
              <a:defRPr sz="1100" b="1">
                <a:solidFill>
                  <a:srgbClr val="FFFFFF"/>
                </a:solidFill>
                <a:latin typeface="Arial"/>
              </a:defRPr>
            </a:pPr>
            <a:r>
              <a:rPr dirty="0" smtClean="0"/>
              <a:t>[</a:t>
            </a:r>
            <a:r>
              <a:rPr lang="en-US" dirty="0" smtClean="0"/>
              <a:t>Mohammed </a:t>
            </a:r>
            <a:r>
              <a:rPr lang="en-US" dirty="0" err="1" smtClean="0"/>
              <a:t>Tanvir</a:t>
            </a:r>
            <a:r>
              <a:rPr dirty="0" smtClean="0"/>
              <a:t>]</a:t>
            </a:r>
            <a:endParaRPr dirty="0"/>
          </a:p>
          <a:p>
            <a:pPr>
              <a:spcBef>
                <a:spcPts val="600"/>
              </a:spcBef>
              <a:defRPr sz="900" b="1">
                <a:solidFill>
                  <a:srgbClr val="64748B"/>
                </a:solidFill>
                <a:latin typeface="Arial"/>
              </a:defRPr>
            </a:pPr>
            <a:r>
              <a:rPr dirty="0"/>
              <a:t>STUDENT ID:</a:t>
            </a:r>
          </a:p>
          <a:p>
            <a:pPr>
              <a:defRPr sz="1100" b="1">
                <a:solidFill>
                  <a:srgbClr val="FFFFFF"/>
                </a:solidFill>
                <a:latin typeface="Arial"/>
              </a:defRPr>
            </a:pPr>
            <a:r>
              <a:rPr dirty="0" smtClean="0"/>
              <a:t>[</a:t>
            </a:r>
            <a:r>
              <a:rPr lang="en-US" dirty="0" smtClean="0"/>
              <a:t>232-134-001</a:t>
            </a:r>
            <a:r>
              <a:rPr dirty="0" smtClean="0"/>
              <a:t>]</a:t>
            </a:r>
            <a:endParaRPr dirty="0"/>
          </a:p>
          <a:p>
            <a:pPr>
              <a:spcBef>
                <a:spcPts val="600"/>
              </a:spcBef>
              <a:defRPr sz="900" b="1">
                <a:solidFill>
                  <a:srgbClr val="64748B"/>
                </a:solidFill>
                <a:latin typeface="Arial"/>
              </a:defRPr>
            </a:pPr>
            <a:r>
              <a:rPr dirty="0" smtClean="0"/>
              <a:t>SUBMISSION </a:t>
            </a:r>
            <a:r>
              <a:rPr dirty="0"/>
              <a:t>DATE:</a:t>
            </a:r>
          </a:p>
          <a:p>
            <a:pPr>
              <a:defRPr sz="1100" b="1">
                <a:solidFill>
                  <a:srgbClr val="FFFFFF"/>
                </a:solidFill>
                <a:latin typeface="Arial"/>
              </a:defRPr>
            </a:pPr>
            <a:r>
              <a:rPr dirty="0" smtClean="0"/>
              <a:t>[</a:t>
            </a:r>
            <a:r>
              <a:rPr lang="en-US" sz="1100" dirty="0"/>
              <a:t>29 </a:t>
            </a:r>
            <a:r>
              <a:rPr lang="en-US" sz="1100" dirty="0" smtClean="0"/>
              <a:t>Jul 2026</a:t>
            </a:r>
            <a:r>
              <a:rPr dirty="0" smtClean="0"/>
              <a:t>]</a:t>
            </a:r>
            <a:endParaRPr dirty="0"/>
          </a:p>
          <a:p>
            <a:pPr>
              <a:spcBef>
                <a:spcPts val="600"/>
              </a:spcBef>
              <a:defRPr sz="900" b="1">
                <a:solidFill>
                  <a:srgbClr val="64748B"/>
                </a:solidFill>
                <a:latin typeface="Arial"/>
              </a:defRPr>
            </a:pPr>
            <a:r>
              <a:rPr dirty="0"/>
              <a:t>DESIGN TOOL:</a:t>
            </a:r>
          </a:p>
          <a:p>
            <a:pPr>
              <a:defRPr sz="1100" b="1">
                <a:solidFill>
                  <a:srgbClr val="FFFFFF"/>
                </a:solidFill>
                <a:latin typeface="Arial"/>
              </a:defRPr>
            </a:pPr>
            <a:r>
              <a:rPr dirty="0" err="1" smtClean="0"/>
              <a:t>Figma</a:t>
            </a:r>
            <a:r>
              <a:rPr lang="en-US" dirty="0" smtClean="0"/>
              <a:t>, </a:t>
            </a:r>
            <a:r>
              <a:rPr lang="en-US" dirty="0" err="1" smtClean="0"/>
              <a:t>Powerpoint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01 / PROJECT OVERVIEW</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One Platform for Discovering, Booking and Managing Travel</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3035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764792"/>
            <a:ext cx="73152" cy="987552"/>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764792"/>
            <a:ext cx="4754880" cy="1005840"/>
          </a:xfrm>
          <a:prstGeom prst="rect">
            <a:avLst/>
          </a:prstGeom>
          <a:noFill/>
        </p:spPr>
        <p:txBody>
          <a:bodyPr wrap="square" lIns="0" tIns="0" rIns="0" bIns="0">
            <a:spAutoFit/>
          </a:bodyPr>
          <a:lstStyle/>
          <a:p>
            <a:pPr>
              <a:defRPr sz="1300" b="1">
                <a:solidFill>
                  <a:srgbClr val="0F172A"/>
                </a:solidFill>
                <a:latin typeface="Arial"/>
              </a:defRPr>
            </a:pPr>
            <a:r>
              <a:t>Visual Travel Marketplace</a:t>
            </a:r>
          </a:p>
          <a:p>
            <a:pPr>
              <a:spcBef>
                <a:spcPts val="400"/>
              </a:spcBef>
              <a:defRPr sz="1050">
                <a:solidFill>
                  <a:srgbClr val="64748B"/>
                </a:solidFill>
                <a:latin typeface="Arial"/>
              </a:defRPr>
            </a:pPr>
            <a:r>
              <a:t>SAFAR serves as a centralized digital marketplace for exploring curated holiday tours and luxury hotels worldwide with transparent pricing.</a:t>
            </a:r>
          </a:p>
        </p:txBody>
      </p:sp>
      <p:sp>
        <p:nvSpPr>
          <p:cNvPr id="9" name="Rounded Rectangle 8"/>
          <p:cNvSpPr/>
          <p:nvPr/>
        </p:nvSpPr>
        <p:spPr>
          <a:xfrm>
            <a:off x="731520" y="3108960"/>
            <a:ext cx="53035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68680" y="3273552"/>
            <a:ext cx="73152" cy="987552"/>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273552"/>
            <a:ext cx="4754880" cy="1005840"/>
          </a:xfrm>
          <a:prstGeom prst="rect">
            <a:avLst/>
          </a:prstGeom>
          <a:noFill/>
        </p:spPr>
        <p:txBody>
          <a:bodyPr wrap="square" lIns="0" tIns="0" rIns="0" bIns="0">
            <a:spAutoFit/>
          </a:bodyPr>
          <a:lstStyle/>
          <a:p>
            <a:pPr>
              <a:defRPr sz="1300" b="1">
                <a:solidFill>
                  <a:srgbClr val="0F172A"/>
                </a:solidFill>
                <a:latin typeface="Arial"/>
              </a:defRPr>
            </a:pPr>
            <a:r>
              <a:t>Two-Sided Connectivity</a:t>
            </a:r>
          </a:p>
          <a:p>
            <a:pPr>
              <a:spcBef>
                <a:spcPts val="400"/>
              </a:spcBef>
              <a:defRPr sz="1050">
                <a:solidFill>
                  <a:srgbClr val="64748B"/>
                </a:solidFill>
                <a:latin typeface="Arial"/>
              </a:defRPr>
            </a:pPr>
            <a:r>
              <a:t>Connects independent travelers directly with verified travel agencies, eliminating communication friction and fragmented booking channels.</a:t>
            </a:r>
          </a:p>
        </p:txBody>
      </p:sp>
      <p:sp>
        <p:nvSpPr>
          <p:cNvPr id="12" name="Rounded Rectangle 11"/>
          <p:cNvSpPr/>
          <p:nvPr/>
        </p:nvSpPr>
        <p:spPr>
          <a:xfrm>
            <a:off x="731520" y="4617720"/>
            <a:ext cx="53035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68680" y="4782312"/>
            <a:ext cx="73152" cy="987552"/>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782312"/>
            <a:ext cx="4754880" cy="1005840"/>
          </a:xfrm>
          <a:prstGeom prst="rect">
            <a:avLst/>
          </a:prstGeom>
          <a:noFill/>
        </p:spPr>
        <p:txBody>
          <a:bodyPr wrap="square" lIns="0" tIns="0" rIns="0" bIns="0">
            <a:spAutoFit/>
          </a:bodyPr>
          <a:lstStyle/>
          <a:p>
            <a:pPr>
              <a:defRPr sz="1300" b="1">
                <a:solidFill>
                  <a:srgbClr val="0F172A"/>
                </a:solidFill>
                <a:latin typeface="Arial"/>
              </a:defRPr>
            </a:pPr>
            <a:r>
              <a:t>Role-Based Management</a:t>
            </a:r>
          </a:p>
          <a:p>
            <a:pPr>
              <a:spcBef>
                <a:spcPts val="400"/>
              </a:spcBef>
              <a:defRPr sz="1050">
                <a:solidFill>
                  <a:srgbClr val="64748B"/>
                </a:solidFill>
                <a:latin typeface="Arial"/>
              </a:defRPr>
            </a:pPr>
            <a:r>
              <a:t>Tailored interfaces for Travelers (discovery &amp; booking), Agencies (package publishing &amp; requests), and Admins (governance &amp; moderation).</a:t>
            </a:r>
          </a:p>
        </p:txBody>
      </p:sp>
      <p:sp>
        <p:nvSpPr>
          <p:cNvPr id="15" name="Rounded Rectangle 14"/>
          <p:cNvSpPr/>
          <p:nvPr/>
        </p:nvSpPr>
        <p:spPr>
          <a:xfrm>
            <a:off x="6309360" y="1600200"/>
            <a:ext cx="515081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828800"/>
            <a:ext cx="4572000" cy="457200"/>
          </a:xfrm>
          <a:prstGeom prst="rect">
            <a:avLst/>
          </a:prstGeom>
          <a:noFill/>
        </p:spPr>
        <p:txBody>
          <a:bodyPr wrap="none">
            <a:spAutoFit/>
          </a:bodyPr>
          <a:lstStyle/>
          <a:p>
            <a:pPr>
              <a:defRPr sz="1100" b="1">
                <a:solidFill>
                  <a:srgbClr val="F97316"/>
                </a:solidFill>
                <a:latin typeface="Arial"/>
              </a:defRPr>
            </a:pPr>
            <a:r>
              <a:t>SAFAR THREE-TIER ECOSYSTEM</a:t>
            </a:r>
          </a:p>
        </p:txBody>
      </p:sp>
      <p:sp>
        <p:nvSpPr>
          <p:cNvPr id="17" name="Rounded Rectangle 16"/>
          <p:cNvSpPr/>
          <p:nvPr/>
        </p:nvSpPr>
        <p:spPr>
          <a:xfrm>
            <a:off x="6583680" y="2331720"/>
            <a:ext cx="4572000" cy="10058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0" y="2423160"/>
            <a:ext cx="4206240" cy="822960"/>
          </a:xfrm>
          <a:prstGeom prst="rect">
            <a:avLst/>
          </a:prstGeom>
          <a:noFill/>
        </p:spPr>
        <p:txBody>
          <a:bodyPr wrap="none">
            <a:spAutoFit/>
          </a:bodyPr>
          <a:lstStyle/>
          <a:p>
            <a:pPr>
              <a:defRPr sz="1200" b="1">
                <a:solidFill>
                  <a:srgbClr val="0F172A"/>
                </a:solidFill>
              </a:defRPr>
            </a:pPr>
            <a:r>
              <a:t>👤 Traveler / Tourist</a:t>
            </a:r>
          </a:p>
          <a:p>
            <a:pPr>
              <a:defRPr sz="950">
                <a:solidFill>
                  <a:srgbClr val="64748B"/>
                </a:solidFill>
              </a:defRPr>
            </a:pPr>
            <a:r>
              <a:t>Explores destination packages • Checks real-time pricing • Books securely</a:t>
            </a:r>
          </a:p>
        </p:txBody>
      </p:sp>
      <p:sp>
        <p:nvSpPr>
          <p:cNvPr id="19" name="Rounded Rectangle 18"/>
          <p:cNvSpPr/>
          <p:nvPr/>
        </p:nvSpPr>
        <p:spPr>
          <a:xfrm>
            <a:off x="6583680" y="3474720"/>
            <a:ext cx="4572000" cy="100584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3566160"/>
            <a:ext cx="4206240" cy="822960"/>
          </a:xfrm>
          <a:prstGeom prst="rect">
            <a:avLst/>
          </a:prstGeom>
          <a:noFill/>
        </p:spPr>
        <p:txBody>
          <a:bodyPr wrap="none">
            <a:spAutoFit/>
          </a:bodyPr>
          <a:lstStyle/>
          <a:p>
            <a:pPr>
              <a:defRPr sz="1200" b="1">
                <a:solidFill>
                  <a:srgbClr val="0F172A"/>
                </a:solidFill>
              </a:defRPr>
            </a:pPr>
            <a:r>
              <a:t>🏢 Verified Travel Agency</a:t>
            </a:r>
          </a:p>
          <a:p>
            <a:pPr>
              <a:defRPr sz="950">
                <a:solidFill>
                  <a:srgbClr val="64748B"/>
                </a:solidFill>
              </a:defRPr>
            </a:pPr>
            <a:r>
              <a:t>Publishes tour &amp; hotel inventory • Moderates booking requests • Tracks earnings</a:t>
            </a:r>
          </a:p>
        </p:txBody>
      </p:sp>
      <p:sp>
        <p:nvSpPr>
          <p:cNvPr id="21" name="Rounded Rectangle 20"/>
          <p:cNvSpPr/>
          <p:nvPr/>
        </p:nvSpPr>
        <p:spPr>
          <a:xfrm>
            <a:off x="6583680" y="4617720"/>
            <a:ext cx="4572000"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4709160"/>
            <a:ext cx="4206240" cy="822960"/>
          </a:xfrm>
          <a:prstGeom prst="rect">
            <a:avLst/>
          </a:prstGeom>
          <a:noFill/>
        </p:spPr>
        <p:txBody>
          <a:bodyPr wrap="none">
            <a:spAutoFit/>
          </a:bodyPr>
          <a:lstStyle/>
          <a:p>
            <a:pPr>
              <a:defRPr sz="1200" b="1">
                <a:solidFill>
                  <a:srgbClr val="0F172A"/>
                </a:solidFill>
              </a:defRPr>
            </a:pPr>
            <a:r>
              <a:t>🛡️ Platform Administrator</a:t>
            </a:r>
          </a:p>
          <a:p>
            <a:pPr>
              <a:defRPr sz="950">
                <a:solidFill>
                  <a:srgbClr val="64748B"/>
                </a:solidFill>
              </a:defRPr>
            </a:pPr>
            <a:r>
              <a:t>Controls global ledger • Verifies agencies • Governs commission &amp; master inventory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02 / PROBLEM &amp; OBJECTIVES</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The Experience Must Reduce Booking Friction</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83080"/>
            <a:ext cx="4663440" cy="365760"/>
          </a:xfrm>
          <a:prstGeom prst="rect">
            <a:avLst/>
          </a:prstGeom>
          <a:noFill/>
        </p:spPr>
        <p:txBody>
          <a:bodyPr wrap="none">
            <a:spAutoFit/>
          </a:bodyPr>
          <a:lstStyle/>
          <a:p>
            <a:pPr>
              <a:defRPr sz="1100" b="1">
                <a:solidFill>
                  <a:srgbClr val="E11D48"/>
                </a:solidFill>
                <a:latin typeface="Arial"/>
              </a:defRPr>
            </a:pPr>
            <a:r>
              <a:t>CORE USER CHALLENGES</a:t>
            </a:r>
          </a:p>
        </p:txBody>
      </p:sp>
      <p:sp>
        <p:nvSpPr>
          <p:cNvPr id="8" name="TextBox 7"/>
          <p:cNvSpPr txBox="1"/>
          <p:nvPr/>
        </p:nvSpPr>
        <p:spPr>
          <a:xfrm>
            <a:off x="1005840" y="2240280"/>
            <a:ext cx="4663440" cy="868680"/>
          </a:xfrm>
          <a:prstGeom prst="rect">
            <a:avLst/>
          </a:prstGeom>
          <a:noFill/>
        </p:spPr>
        <p:txBody>
          <a:bodyPr wrap="square" lIns="0" tIns="0" rIns="0" bIns="0">
            <a:spAutoFit/>
          </a:bodyPr>
          <a:lstStyle/>
          <a:p>
            <a:pPr>
              <a:defRPr sz="1050" b="1">
                <a:solidFill>
                  <a:srgbClr val="0F172A"/>
                </a:solidFill>
                <a:latin typeface="Arial"/>
              </a:defRPr>
            </a:pPr>
            <a:r>
              <a:t>•  Information Overload: </a:t>
            </a:r>
            <a:r>
              <a:rPr b="0">
                <a:solidFill>
                  <a:srgbClr val="64748B"/>
                </a:solidFill>
              </a:rPr>
              <a:t>Travelers encounter dense, text-heavy listings without clear comparison metrics or transparent duration details.</a:t>
            </a:r>
          </a:p>
        </p:txBody>
      </p:sp>
      <p:sp>
        <p:nvSpPr>
          <p:cNvPr id="9" name="TextBox 8"/>
          <p:cNvSpPr txBox="1"/>
          <p:nvPr/>
        </p:nvSpPr>
        <p:spPr>
          <a:xfrm>
            <a:off x="1005840" y="3200400"/>
            <a:ext cx="4663440" cy="868680"/>
          </a:xfrm>
          <a:prstGeom prst="rect">
            <a:avLst/>
          </a:prstGeom>
          <a:noFill/>
        </p:spPr>
        <p:txBody>
          <a:bodyPr wrap="square" lIns="0" tIns="0" rIns="0" bIns="0">
            <a:spAutoFit/>
          </a:bodyPr>
          <a:lstStyle/>
          <a:p>
            <a:pPr>
              <a:defRPr sz="1050" b="1">
                <a:solidFill>
                  <a:srgbClr val="0F172A"/>
                </a:solidFill>
                <a:latin typeface="Arial"/>
              </a:defRPr>
            </a:pPr>
            <a:r>
              <a:t>•  Unclear Booking Costs: </a:t>
            </a:r>
            <a:r>
              <a:rPr b="0">
                <a:solidFill>
                  <a:srgbClr val="64748B"/>
                </a:solidFill>
              </a:rPr>
              <a:t>Hidden surcharges and complex multi-step forms create high drop-off rates before transaction confirmation.</a:t>
            </a:r>
          </a:p>
        </p:txBody>
      </p:sp>
      <p:sp>
        <p:nvSpPr>
          <p:cNvPr id="10" name="TextBox 9"/>
          <p:cNvSpPr txBox="1"/>
          <p:nvPr/>
        </p:nvSpPr>
        <p:spPr>
          <a:xfrm>
            <a:off x="1005840" y="4160520"/>
            <a:ext cx="4663440" cy="868680"/>
          </a:xfrm>
          <a:prstGeom prst="rect">
            <a:avLst/>
          </a:prstGeom>
          <a:noFill/>
        </p:spPr>
        <p:txBody>
          <a:bodyPr wrap="square" lIns="0" tIns="0" rIns="0" bIns="0">
            <a:spAutoFit/>
          </a:bodyPr>
          <a:lstStyle/>
          <a:p>
            <a:pPr>
              <a:defRPr sz="1050" b="1">
                <a:solidFill>
                  <a:srgbClr val="0F172A"/>
                </a:solidFill>
                <a:latin typeface="Arial"/>
              </a:defRPr>
            </a:pPr>
            <a:r>
              <a:t>•  Fragmented Agency Tools: </a:t>
            </a:r>
            <a:r>
              <a:rPr b="0">
                <a:solidFill>
                  <a:srgbClr val="64748B"/>
                </a:solidFill>
              </a:rPr>
              <a:t>Local travel agencies lack dedicated digital dashboards to update availability or manage booking statuses.</a:t>
            </a:r>
          </a:p>
        </p:txBody>
      </p:sp>
      <p:sp>
        <p:nvSpPr>
          <p:cNvPr id="11" name="TextBox 10"/>
          <p:cNvSpPr txBox="1"/>
          <p:nvPr/>
        </p:nvSpPr>
        <p:spPr>
          <a:xfrm>
            <a:off x="1005840" y="5120640"/>
            <a:ext cx="4663440" cy="868680"/>
          </a:xfrm>
          <a:prstGeom prst="rect">
            <a:avLst/>
          </a:prstGeom>
          <a:noFill/>
        </p:spPr>
        <p:txBody>
          <a:bodyPr wrap="square" lIns="0" tIns="0" rIns="0" bIns="0">
            <a:spAutoFit/>
          </a:bodyPr>
          <a:lstStyle/>
          <a:p>
            <a:pPr>
              <a:defRPr sz="1050" b="1">
                <a:solidFill>
                  <a:srgbClr val="0F172A"/>
                </a:solidFill>
                <a:latin typeface="Arial"/>
              </a:defRPr>
            </a:pPr>
            <a:r>
              <a:t>•  Admin Governance Gap: </a:t>
            </a:r>
            <a:r>
              <a:rPr b="0">
                <a:solidFill>
                  <a:srgbClr val="64748B"/>
                </a:solidFill>
              </a:rPr>
              <a:t>Administrators require real-time visibility into transactions, verification queues, and inventory control.</a:t>
            </a:r>
          </a:p>
        </p:txBody>
      </p:sp>
      <p:sp>
        <p:nvSpPr>
          <p:cNvPr id="12" name="Rounded Rectangle 11"/>
          <p:cNvSpPr/>
          <p:nvPr/>
        </p:nvSpPr>
        <p:spPr>
          <a:xfrm>
            <a:off x="6248095"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22415" y="1783080"/>
            <a:ext cx="4663440" cy="365760"/>
          </a:xfrm>
          <a:prstGeom prst="rect">
            <a:avLst/>
          </a:prstGeom>
          <a:noFill/>
        </p:spPr>
        <p:txBody>
          <a:bodyPr wrap="none">
            <a:spAutoFit/>
          </a:bodyPr>
          <a:lstStyle/>
          <a:p>
            <a:pPr>
              <a:defRPr sz="1100" b="1">
                <a:solidFill>
                  <a:srgbClr val="10B981"/>
                </a:solidFill>
                <a:latin typeface="Arial"/>
              </a:defRPr>
            </a:pPr>
            <a:r>
              <a:t>DESIGN OBJECTIVES &amp; STRATEGY</a:t>
            </a:r>
          </a:p>
        </p:txBody>
      </p:sp>
      <p:sp>
        <p:nvSpPr>
          <p:cNvPr id="14" name="TextBox 13"/>
          <p:cNvSpPr txBox="1"/>
          <p:nvPr/>
        </p:nvSpPr>
        <p:spPr>
          <a:xfrm>
            <a:off x="6522415" y="2240280"/>
            <a:ext cx="4663440" cy="868680"/>
          </a:xfrm>
          <a:prstGeom prst="rect">
            <a:avLst/>
          </a:prstGeom>
          <a:noFill/>
        </p:spPr>
        <p:txBody>
          <a:bodyPr wrap="square" lIns="0" tIns="0" rIns="0" bIns="0">
            <a:spAutoFit/>
          </a:bodyPr>
          <a:lstStyle/>
          <a:p>
            <a:pPr>
              <a:defRPr sz="1050" b="1">
                <a:solidFill>
                  <a:srgbClr val="0F172A"/>
                </a:solidFill>
                <a:latin typeface="Arial"/>
              </a:defRPr>
            </a:pPr>
            <a:r>
              <a:t>✓  Visual-First Discovery Engine</a:t>
            </a:r>
          </a:p>
          <a:p>
            <a:pPr>
              <a:spcBef>
                <a:spcPts val="200"/>
              </a:spcBef>
              <a:defRPr sz="950">
                <a:solidFill>
                  <a:srgbClr val="64748B"/>
                </a:solidFill>
                <a:latin typeface="Arial"/>
              </a:defRPr>
            </a:pPr>
            <a:r>
              <a:t>Implement high-impact card layouts with prominent imagery, duration tags, and location markers to guide choices.</a:t>
            </a:r>
          </a:p>
        </p:txBody>
      </p:sp>
      <p:sp>
        <p:nvSpPr>
          <p:cNvPr id="15" name="TextBox 14"/>
          <p:cNvSpPr txBox="1"/>
          <p:nvPr/>
        </p:nvSpPr>
        <p:spPr>
          <a:xfrm>
            <a:off x="6522415" y="3200400"/>
            <a:ext cx="4663440" cy="868680"/>
          </a:xfrm>
          <a:prstGeom prst="rect">
            <a:avLst/>
          </a:prstGeom>
          <a:noFill/>
        </p:spPr>
        <p:txBody>
          <a:bodyPr wrap="square" lIns="0" tIns="0" rIns="0" bIns="0">
            <a:spAutoFit/>
          </a:bodyPr>
          <a:lstStyle/>
          <a:p>
            <a:pPr>
              <a:defRPr sz="1050" b="1">
                <a:solidFill>
                  <a:srgbClr val="0F172A"/>
                </a:solidFill>
                <a:latin typeface="Arial"/>
              </a:defRPr>
            </a:pPr>
            <a:r>
              <a:t>✓  Frictionless Modal Booking Flow</a:t>
            </a:r>
          </a:p>
          <a:p>
            <a:pPr>
              <a:spcBef>
                <a:spcPts val="200"/>
              </a:spcBef>
              <a:defRPr sz="950">
                <a:solidFill>
                  <a:srgbClr val="64748B"/>
                </a:solidFill>
                <a:latin typeface="Arial"/>
              </a:defRPr>
            </a:pPr>
            <a:r>
              <a:t>Streamline the checkout journey into a single modal with live price calculation and instant payment method selection.</a:t>
            </a:r>
          </a:p>
        </p:txBody>
      </p:sp>
      <p:sp>
        <p:nvSpPr>
          <p:cNvPr id="16" name="TextBox 15"/>
          <p:cNvSpPr txBox="1"/>
          <p:nvPr/>
        </p:nvSpPr>
        <p:spPr>
          <a:xfrm>
            <a:off x="6522415" y="4160520"/>
            <a:ext cx="4663440" cy="868680"/>
          </a:xfrm>
          <a:prstGeom prst="rect">
            <a:avLst/>
          </a:prstGeom>
          <a:noFill/>
        </p:spPr>
        <p:txBody>
          <a:bodyPr wrap="square" lIns="0" tIns="0" rIns="0" bIns="0">
            <a:spAutoFit/>
          </a:bodyPr>
          <a:lstStyle/>
          <a:p>
            <a:pPr>
              <a:defRPr sz="1050" b="1">
                <a:solidFill>
                  <a:srgbClr val="0F172A"/>
                </a:solidFill>
                <a:latin typeface="Arial"/>
              </a:defRPr>
            </a:pPr>
            <a:r>
              <a:t>✓  Unified Design Token System</a:t>
            </a:r>
          </a:p>
          <a:p>
            <a:pPr>
              <a:spcBef>
                <a:spcPts val="200"/>
              </a:spcBef>
              <a:defRPr sz="950">
                <a:solidFill>
                  <a:srgbClr val="64748B"/>
                </a:solidFill>
                <a:latin typeface="Arial"/>
              </a:defRPr>
            </a:pPr>
            <a:r>
              <a:t>Establish consistent typography, button hierarchy, and color tokens across traveler, agency, and admin screens.</a:t>
            </a:r>
          </a:p>
        </p:txBody>
      </p:sp>
      <p:sp>
        <p:nvSpPr>
          <p:cNvPr id="17" name="TextBox 16"/>
          <p:cNvSpPr txBox="1"/>
          <p:nvPr/>
        </p:nvSpPr>
        <p:spPr>
          <a:xfrm>
            <a:off x="6522415" y="5120640"/>
            <a:ext cx="4663440" cy="868680"/>
          </a:xfrm>
          <a:prstGeom prst="rect">
            <a:avLst/>
          </a:prstGeom>
          <a:noFill/>
        </p:spPr>
        <p:txBody>
          <a:bodyPr wrap="square" lIns="0" tIns="0" rIns="0" bIns="0">
            <a:spAutoFit/>
          </a:bodyPr>
          <a:lstStyle/>
          <a:p>
            <a:pPr>
              <a:defRPr sz="1050" b="1">
                <a:solidFill>
                  <a:srgbClr val="0F172A"/>
                </a:solidFill>
                <a:latin typeface="Arial"/>
              </a:defRPr>
            </a:pPr>
            <a:r>
              <a:t>✓  Predictable Management Hubs</a:t>
            </a:r>
          </a:p>
          <a:p>
            <a:pPr>
              <a:spcBef>
                <a:spcPts val="200"/>
              </a:spcBef>
              <a:defRPr sz="950">
                <a:solidFill>
                  <a:srgbClr val="64748B"/>
                </a:solidFill>
                <a:latin typeface="Arial"/>
              </a:defRPr>
            </a:pPr>
            <a:r>
              <a:t>Design purpose-built data tables, status badges, and quick-action filters for rapid agency and admin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03 / USERS &amp; INFORMATION ARCHITECTURE</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Role-Based Structure Keeps Each Journey Focused</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347472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37360"/>
            <a:ext cx="3108960" cy="1463040"/>
          </a:xfrm>
          <a:prstGeom prst="rect">
            <a:avLst/>
          </a:prstGeom>
          <a:noFill/>
        </p:spPr>
        <p:txBody>
          <a:bodyPr wrap="square" lIns="0" tIns="0" rIns="0" bIns="0">
            <a:spAutoFit/>
          </a:bodyPr>
          <a:lstStyle/>
          <a:p>
            <a:pPr>
              <a:defRPr sz="1200" b="1">
                <a:solidFill>
                  <a:srgbClr val="F97316"/>
                </a:solidFill>
              </a:defRPr>
            </a:pPr>
            <a:r>
              <a:t>Traveler (Tourist)</a:t>
            </a:r>
          </a:p>
          <a:p>
            <a:pPr>
              <a:spcBef>
                <a:spcPts val="400"/>
              </a:spcBef>
              <a:defRPr sz="950">
                <a:solidFill>
                  <a:srgbClr val="64748B"/>
                </a:solidFill>
              </a:defRPr>
            </a:pPr>
            <a:r>
              <a:t>Seeks memorable holiday packages, fast date/guest filtering, and transparent booking confirmation without hidden fees.</a:t>
            </a:r>
          </a:p>
        </p:txBody>
      </p:sp>
      <p:sp>
        <p:nvSpPr>
          <p:cNvPr id="8" name="Rounded Rectangle 7"/>
          <p:cNvSpPr/>
          <p:nvPr/>
        </p:nvSpPr>
        <p:spPr>
          <a:xfrm>
            <a:off x="4343400" y="1600200"/>
            <a:ext cx="347472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737360"/>
            <a:ext cx="3108960" cy="1463040"/>
          </a:xfrm>
          <a:prstGeom prst="rect">
            <a:avLst/>
          </a:prstGeom>
          <a:noFill/>
        </p:spPr>
        <p:txBody>
          <a:bodyPr wrap="square" lIns="0" tIns="0" rIns="0" bIns="0">
            <a:spAutoFit/>
          </a:bodyPr>
          <a:lstStyle/>
          <a:p>
            <a:pPr>
              <a:defRPr sz="1200" b="1">
                <a:solidFill>
                  <a:srgbClr val="0284C7"/>
                </a:solidFill>
              </a:defRPr>
            </a:pPr>
            <a:r>
              <a:t>Agency Partner</a:t>
            </a:r>
          </a:p>
          <a:p>
            <a:pPr>
              <a:spcBef>
                <a:spcPts val="400"/>
              </a:spcBef>
              <a:defRPr sz="950">
                <a:solidFill>
                  <a:srgbClr val="64748B"/>
                </a:solidFill>
              </a:defRPr>
            </a:pPr>
            <a:r>
              <a:t>Needs frictionless inventory publication, real-time booking request moderation, and package CRUD management.</a:t>
            </a:r>
          </a:p>
        </p:txBody>
      </p:sp>
      <p:sp>
        <p:nvSpPr>
          <p:cNvPr id="10" name="Rounded Rectangle 9"/>
          <p:cNvSpPr/>
          <p:nvPr/>
        </p:nvSpPr>
        <p:spPr>
          <a:xfrm>
            <a:off x="7955280" y="1600200"/>
            <a:ext cx="347472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737360"/>
            <a:ext cx="3108960" cy="1463040"/>
          </a:xfrm>
          <a:prstGeom prst="rect">
            <a:avLst/>
          </a:prstGeom>
          <a:noFill/>
        </p:spPr>
        <p:txBody>
          <a:bodyPr wrap="square" lIns="0" tIns="0" rIns="0" bIns="0">
            <a:spAutoFit/>
          </a:bodyPr>
          <a:lstStyle/>
          <a:p>
            <a:pPr>
              <a:defRPr sz="1200" b="1">
                <a:solidFill>
                  <a:srgbClr val="0F172A"/>
                </a:solidFill>
              </a:defRPr>
            </a:pPr>
            <a:r>
              <a:t>Platform Administrator</a:t>
            </a:r>
          </a:p>
          <a:p>
            <a:pPr>
              <a:spcBef>
                <a:spcPts val="400"/>
              </a:spcBef>
              <a:defRPr sz="950">
                <a:solidFill>
                  <a:srgbClr val="64748B"/>
                </a:solidFill>
              </a:defRPr>
            </a:pPr>
            <a:r>
              <a:t>Requires global system governance, verified partner onboarding, financial ledger tracking, and platform health stats.</a:t>
            </a:r>
          </a:p>
        </p:txBody>
      </p:sp>
      <p:sp>
        <p:nvSpPr>
          <p:cNvPr id="12" name="Rounded Rectangle 11"/>
          <p:cNvSpPr/>
          <p:nvPr/>
        </p:nvSpPr>
        <p:spPr>
          <a:xfrm>
            <a:off x="731520" y="3520440"/>
            <a:ext cx="1072865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657600"/>
            <a:ext cx="10058400" cy="320040"/>
          </a:xfrm>
          <a:prstGeom prst="rect">
            <a:avLst/>
          </a:prstGeom>
          <a:noFill/>
        </p:spPr>
        <p:txBody>
          <a:bodyPr wrap="none">
            <a:spAutoFit/>
          </a:bodyPr>
          <a:lstStyle/>
          <a:p>
            <a:pPr>
              <a:defRPr sz="1050" b="1">
                <a:solidFill>
                  <a:srgbClr val="F97316"/>
                </a:solidFill>
              </a:defRPr>
            </a:pPr>
            <a:r>
              <a:t>SAFAR SITE MAP &amp; INFORMATION ARCHITECTURE (IA)</a:t>
            </a:r>
          </a:p>
        </p:txBody>
      </p:sp>
      <p:sp>
        <p:nvSpPr>
          <p:cNvPr id="14" name="Rounded Rectangle 13"/>
          <p:cNvSpPr/>
          <p:nvPr/>
        </p:nvSpPr>
        <p:spPr>
          <a:xfrm>
            <a:off x="1005840" y="4069080"/>
            <a:ext cx="329184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4160520"/>
            <a:ext cx="3017520" cy="1645920"/>
          </a:xfrm>
          <a:prstGeom prst="rect">
            <a:avLst/>
          </a:prstGeom>
          <a:noFill/>
        </p:spPr>
        <p:txBody>
          <a:bodyPr wrap="square">
            <a:spAutoFit/>
          </a:bodyPr>
          <a:lstStyle/>
          <a:p>
            <a:pPr>
              <a:defRPr sz="1100" b="1">
                <a:solidFill>
                  <a:srgbClr val="0F172A"/>
                </a:solidFill>
              </a:defRPr>
            </a:pPr>
            <a:r>
              <a:t>1. Public &amp; Traveler Space</a:t>
            </a:r>
          </a:p>
          <a:p>
            <a:pPr>
              <a:defRPr sz="850">
                <a:solidFill>
                  <a:srgbClr val="64748B"/>
                </a:solidFill>
              </a:defRPr>
            </a:pPr>
            <a:r>
              <a:t>• / (Home: Hero Search &amp; Highlights)</a:t>
            </a:r>
          </a:p>
          <a:p>
            <a:pPr>
              <a:defRPr sz="850">
                <a:solidFill>
                  <a:srgbClr val="64748B"/>
                </a:solidFill>
              </a:defRPr>
            </a:pPr>
            <a:r>
              <a:t>• /explore (All Packages &amp; Filters)</a:t>
            </a:r>
          </a:p>
          <a:p>
            <a:pPr>
              <a:defRPr sz="850">
                <a:solidFill>
                  <a:srgbClr val="64748B"/>
                </a:solidFill>
              </a:defRPr>
            </a:pPr>
            <a:r>
              <a:t>• /tours &amp; /hotels (Categorized Catalog)</a:t>
            </a:r>
          </a:p>
          <a:p>
            <a:pPr>
              <a:defRPr sz="850">
                <a:solidFill>
                  <a:srgbClr val="64748B"/>
                </a:solidFill>
              </a:defRPr>
            </a:pPr>
            <a:r>
              <a:t>• /package/:id (Itinerary &amp; Details)</a:t>
            </a:r>
          </a:p>
          <a:p>
            <a:pPr>
              <a:defRPr sz="850">
                <a:solidFill>
                  <a:srgbClr val="64748B"/>
                </a:solidFill>
              </a:defRPr>
            </a:pPr>
            <a:r>
              <a:t>• /dashboard/traveler (Booking History)</a:t>
            </a:r>
          </a:p>
        </p:txBody>
      </p:sp>
      <p:sp>
        <p:nvSpPr>
          <p:cNvPr id="16" name="Rounded Rectangle 15"/>
          <p:cNvSpPr/>
          <p:nvPr/>
        </p:nvSpPr>
        <p:spPr>
          <a:xfrm>
            <a:off x="4480560" y="4069080"/>
            <a:ext cx="329184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4160520"/>
            <a:ext cx="3017520" cy="1645920"/>
          </a:xfrm>
          <a:prstGeom prst="rect">
            <a:avLst/>
          </a:prstGeom>
          <a:noFill/>
        </p:spPr>
        <p:txBody>
          <a:bodyPr wrap="square">
            <a:spAutoFit/>
          </a:bodyPr>
          <a:lstStyle/>
          <a:p>
            <a:pPr>
              <a:defRPr sz="1100" b="1">
                <a:solidFill>
                  <a:srgbClr val="0F172A"/>
                </a:solidFill>
              </a:defRPr>
            </a:pPr>
            <a:r>
              <a:t>2. Agency Partner Hub</a:t>
            </a:r>
          </a:p>
          <a:p>
            <a:pPr>
              <a:defRPr sz="850">
                <a:solidFill>
                  <a:srgbClr val="64748B"/>
                </a:solidFill>
              </a:defRPr>
            </a:pPr>
            <a:r>
              <a:t>• /dashboard/agency (Overview &amp; Stats)</a:t>
            </a:r>
          </a:p>
          <a:p>
            <a:pPr>
              <a:defRPr sz="850">
                <a:solidFill>
                  <a:srgbClr val="64748B"/>
                </a:solidFill>
              </a:defRPr>
            </a:pPr>
            <a:r>
              <a:t>• Package Manager (Add / Edit / Delete)</a:t>
            </a:r>
          </a:p>
          <a:p>
            <a:pPr>
              <a:defRPr sz="850">
                <a:solidFill>
                  <a:srgbClr val="64748B"/>
                </a:solidFill>
              </a:defRPr>
            </a:pPr>
            <a:r>
              <a:t>• Booking Requests (Approve / Reject)</a:t>
            </a:r>
          </a:p>
          <a:p>
            <a:pPr>
              <a:defRPr sz="850">
                <a:solidFill>
                  <a:srgbClr val="64748B"/>
                </a:solidFill>
              </a:defRPr>
            </a:pPr>
            <a:r>
              <a:t>• Live Agency Verification Status</a:t>
            </a:r>
          </a:p>
          <a:p>
            <a:pPr>
              <a:defRPr sz="850">
                <a:solidFill>
                  <a:srgbClr val="64748B"/>
                </a:solidFill>
              </a:defRPr>
            </a:pPr>
            <a:r>
              <a:t>• Revenue &amp; Commission Ledger</a:t>
            </a:r>
          </a:p>
        </p:txBody>
      </p:sp>
      <p:sp>
        <p:nvSpPr>
          <p:cNvPr id="18" name="Rounded Rectangle 17"/>
          <p:cNvSpPr/>
          <p:nvPr/>
        </p:nvSpPr>
        <p:spPr>
          <a:xfrm>
            <a:off x="7955279" y="4069080"/>
            <a:ext cx="329184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92440" y="4160520"/>
            <a:ext cx="3017520" cy="1645920"/>
          </a:xfrm>
          <a:prstGeom prst="rect">
            <a:avLst/>
          </a:prstGeom>
          <a:noFill/>
        </p:spPr>
        <p:txBody>
          <a:bodyPr wrap="square">
            <a:spAutoFit/>
          </a:bodyPr>
          <a:lstStyle/>
          <a:p>
            <a:pPr>
              <a:defRPr sz="1100" b="1">
                <a:solidFill>
                  <a:srgbClr val="0F172A"/>
                </a:solidFill>
              </a:defRPr>
            </a:pPr>
            <a:r>
              <a:t>3. Master Admin Control</a:t>
            </a:r>
          </a:p>
          <a:p>
            <a:pPr>
              <a:defRPr sz="850">
                <a:solidFill>
                  <a:srgbClr val="64748B"/>
                </a:solidFill>
              </a:defRPr>
            </a:pPr>
            <a:r>
              <a:t>• /admin (Executive KPI Analytics)</a:t>
            </a:r>
          </a:p>
          <a:p>
            <a:pPr>
              <a:defRPr sz="850">
                <a:solidFill>
                  <a:srgbClr val="64748B"/>
                </a:solidFill>
              </a:defRPr>
            </a:pPr>
            <a:r>
              <a:t>• Master Inventory Control &amp; CSV Export</a:t>
            </a:r>
          </a:p>
          <a:p>
            <a:pPr>
              <a:defRPr sz="850">
                <a:solidFill>
                  <a:srgbClr val="64748B"/>
                </a:solidFill>
              </a:defRPr>
            </a:pPr>
            <a:r>
              <a:t>• Agency Verification &amp; Audit Log</a:t>
            </a:r>
          </a:p>
          <a:p>
            <a:pPr>
              <a:defRPr sz="850">
                <a:solidFill>
                  <a:srgbClr val="64748B"/>
                </a:solidFill>
              </a:defRPr>
            </a:pPr>
            <a:r>
              <a:t>• Global User Roles &amp; Permissions</a:t>
            </a:r>
          </a:p>
          <a:p>
            <a:pPr>
              <a:defRPr sz="850">
                <a:solidFill>
                  <a:srgbClr val="64748B"/>
                </a:solidFill>
              </a:defRPr>
            </a:pPr>
            <a:r>
              <a:t>• Platform Commission Settings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04 / USER FLOW &amp; PROGRESSIVE DISCLOSURE</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The Core Booking Flow Moves from Discovery to Confirmation</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25880" y="2011680"/>
            <a:ext cx="502920" cy="50292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25880" y="2011680"/>
            <a:ext cx="502920" cy="502920"/>
          </a:xfrm>
          <a:prstGeom prst="rect">
            <a:avLst/>
          </a:prstGeom>
          <a:noFill/>
        </p:spPr>
        <p:txBody>
          <a:bodyPr wrap="none">
            <a:spAutoFit/>
          </a:bodyPr>
          <a:lstStyle/>
          <a:p>
            <a:pPr algn="ctr">
              <a:defRPr sz="1100" b="1">
                <a:solidFill>
                  <a:srgbClr val="FFFFFF"/>
                </a:solidFill>
              </a:defRPr>
            </a:pPr>
            <a:r>
              <a:t>1</a:t>
            </a:r>
          </a:p>
        </p:txBody>
      </p:sp>
      <p:sp>
        <p:nvSpPr>
          <p:cNvPr id="9" name="TextBox 8"/>
          <p:cNvSpPr txBox="1"/>
          <p:nvPr/>
        </p:nvSpPr>
        <p:spPr>
          <a:xfrm>
            <a:off x="822960" y="2651760"/>
            <a:ext cx="1508760" cy="1920240"/>
          </a:xfrm>
          <a:prstGeom prst="rect">
            <a:avLst/>
          </a:prstGeom>
          <a:noFill/>
        </p:spPr>
        <p:txBody>
          <a:bodyPr wrap="square" lIns="0" tIns="0" rIns="0" bIns="0">
            <a:spAutoFit/>
          </a:bodyPr>
          <a:lstStyle/>
          <a:p>
            <a:pPr algn="ctr">
              <a:defRPr sz="1100" b="1">
                <a:solidFill>
                  <a:srgbClr val="0F172A"/>
                </a:solidFill>
              </a:defRPr>
            </a:pPr>
            <a:r>
              <a:t>1. Land on Home</a:t>
            </a:r>
          </a:p>
          <a:p>
            <a:pPr algn="ctr">
              <a:spcBef>
                <a:spcPts val="600"/>
              </a:spcBef>
              <a:defRPr sz="900">
                <a:solidFill>
                  <a:srgbClr val="64748B"/>
                </a:solidFill>
              </a:defRPr>
            </a:pPr>
            <a:r>
              <a:t>Hero Search with Destination &amp; Date input</a:t>
            </a:r>
          </a:p>
        </p:txBody>
      </p:sp>
      <p:sp>
        <p:nvSpPr>
          <p:cNvPr id="10" name="Right Arrow 9"/>
          <p:cNvSpPr/>
          <p:nvPr/>
        </p:nvSpPr>
        <p:spPr>
          <a:xfrm>
            <a:off x="2450592" y="3108960"/>
            <a:ext cx="82296" cy="16459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542032"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136392" y="2011680"/>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36392" y="2011680"/>
            <a:ext cx="502920" cy="502920"/>
          </a:xfrm>
          <a:prstGeom prst="rect">
            <a:avLst/>
          </a:prstGeom>
          <a:noFill/>
        </p:spPr>
        <p:txBody>
          <a:bodyPr wrap="none">
            <a:spAutoFit/>
          </a:bodyPr>
          <a:lstStyle/>
          <a:p>
            <a:pPr algn="ctr">
              <a:defRPr sz="1100" b="1">
                <a:solidFill>
                  <a:srgbClr val="FFFFFF"/>
                </a:solidFill>
              </a:defRPr>
            </a:pPr>
            <a:r>
              <a:t>2</a:t>
            </a:r>
          </a:p>
        </p:txBody>
      </p:sp>
      <p:sp>
        <p:nvSpPr>
          <p:cNvPr id="14" name="TextBox 13"/>
          <p:cNvSpPr txBox="1"/>
          <p:nvPr/>
        </p:nvSpPr>
        <p:spPr>
          <a:xfrm>
            <a:off x="2633472" y="2651760"/>
            <a:ext cx="1508760" cy="1920240"/>
          </a:xfrm>
          <a:prstGeom prst="rect">
            <a:avLst/>
          </a:prstGeom>
          <a:noFill/>
        </p:spPr>
        <p:txBody>
          <a:bodyPr wrap="square" lIns="0" tIns="0" rIns="0" bIns="0">
            <a:spAutoFit/>
          </a:bodyPr>
          <a:lstStyle/>
          <a:p>
            <a:pPr algn="ctr">
              <a:defRPr sz="1100" b="1">
                <a:solidFill>
                  <a:srgbClr val="0F172A"/>
                </a:solidFill>
              </a:defRPr>
            </a:pPr>
            <a:r>
              <a:t>2. Explore Catalog</a:t>
            </a:r>
          </a:p>
          <a:p>
            <a:pPr algn="ctr">
              <a:spcBef>
                <a:spcPts val="600"/>
              </a:spcBef>
              <a:defRPr sz="900">
                <a:solidFill>
                  <a:srgbClr val="64748B"/>
                </a:solidFill>
              </a:defRPr>
            </a:pPr>
            <a:r>
              <a:t>Filter by Tour/Hotel, budget &amp; rating</a:t>
            </a:r>
          </a:p>
        </p:txBody>
      </p:sp>
      <p:sp>
        <p:nvSpPr>
          <p:cNvPr id="15" name="Right Arrow 14"/>
          <p:cNvSpPr/>
          <p:nvPr/>
        </p:nvSpPr>
        <p:spPr>
          <a:xfrm>
            <a:off x="4261104" y="3108960"/>
            <a:ext cx="82296" cy="16459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352544"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46904" y="2011680"/>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46904" y="2011680"/>
            <a:ext cx="502920" cy="502920"/>
          </a:xfrm>
          <a:prstGeom prst="rect">
            <a:avLst/>
          </a:prstGeom>
          <a:noFill/>
        </p:spPr>
        <p:txBody>
          <a:bodyPr wrap="none">
            <a:spAutoFit/>
          </a:bodyPr>
          <a:lstStyle/>
          <a:p>
            <a:pPr algn="ctr">
              <a:defRPr sz="1100" b="1">
                <a:solidFill>
                  <a:srgbClr val="FFFFFF"/>
                </a:solidFill>
              </a:defRPr>
            </a:pPr>
            <a:r>
              <a:t>3</a:t>
            </a:r>
          </a:p>
        </p:txBody>
      </p:sp>
      <p:sp>
        <p:nvSpPr>
          <p:cNvPr id="19" name="TextBox 18"/>
          <p:cNvSpPr txBox="1"/>
          <p:nvPr/>
        </p:nvSpPr>
        <p:spPr>
          <a:xfrm>
            <a:off x="4443984" y="2651760"/>
            <a:ext cx="1508760" cy="1920240"/>
          </a:xfrm>
          <a:prstGeom prst="rect">
            <a:avLst/>
          </a:prstGeom>
          <a:noFill/>
        </p:spPr>
        <p:txBody>
          <a:bodyPr wrap="square" lIns="0" tIns="0" rIns="0" bIns="0">
            <a:spAutoFit/>
          </a:bodyPr>
          <a:lstStyle/>
          <a:p>
            <a:pPr algn="ctr">
              <a:defRPr sz="1100" b="1">
                <a:solidFill>
                  <a:srgbClr val="0F172A"/>
                </a:solidFill>
              </a:defRPr>
            </a:pPr>
            <a:r>
              <a:t>3. Inspect Package</a:t>
            </a:r>
          </a:p>
          <a:p>
            <a:pPr algn="ctr">
              <a:spcBef>
                <a:spcPts val="600"/>
              </a:spcBef>
              <a:defRPr sz="900">
                <a:solidFill>
                  <a:srgbClr val="64748B"/>
                </a:solidFill>
              </a:defRPr>
            </a:pPr>
            <a:r>
              <a:t>Examine itinerary, amenities &amp; photos</a:t>
            </a:r>
          </a:p>
        </p:txBody>
      </p:sp>
      <p:sp>
        <p:nvSpPr>
          <p:cNvPr id="20" name="Right Arrow 19"/>
          <p:cNvSpPr/>
          <p:nvPr/>
        </p:nvSpPr>
        <p:spPr>
          <a:xfrm>
            <a:off x="6071616" y="3108960"/>
            <a:ext cx="82296" cy="16459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63055"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757415" y="2011680"/>
            <a:ext cx="502920" cy="50292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57415" y="2011680"/>
            <a:ext cx="502920" cy="502920"/>
          </a:xfrm>
          <a:prstGeom prst="rect">
            <a:avLst/>
          </a:prstGeom>
          <a:noFill/>
        </p:spPr>
        <p:txBody>
          <a:bodyPr wrap="none">
            <a:spAutoFit/>
          </a:bodyPr>
          <a:lstStyle/>
          <a:p>
            <a:pPr algn="ctr">
              <a:defRPr sz="1100" b="1">
                <a:solidFill>
                  <a:srgbClr val="FFFFFF"/>
                </a:solidFill>
              </a:defRPr>
            </a:pPr>
            <a:r>
              <a:t>4</a:t>
            </a:r>
          </a:p>
        </p:txBody>
      </p:sp>
      <p:sp>
        <p:nvSpPr>
          <p:cNvPr id="24" name="TextBox 23"/>
          <p:cNvSpPr txBox="1"/>
          <p:nvPr/>
        </p:nvSpPr>
        <p:spPr>
          <a:xfrm>
            <a:off x="6254495" y="2651760"/>
            <a:ext cx="1508760" cy="1920240"/>
          </a:xfrm>
          <a:prstGeom prst="rect">
            <a:avLst/>
          </a:prstGeom>
          <a:noFill/>
        </p:spPr>
        <p:txBody>
          <a:bodyPr wrap="square" lIns="0" tIns="0" rIns="0" bIns="0">
            <a:spAutoFit/>
          </a:bodyPr>
          <a:lstStyle/>
          <a:p>
            <a:pPr algn="ctr">
              <a:defRPr sz="1100" b="1">
                <a:solidFill>
                  <a:srgbClr val="0F172A"/>
                </a:solidFill>
              </a:defRPr>
            </a:pPr>
            <a:r>
              <a:t>4. Initiate Booking</a:t>
            </a:r>
          </a:p>
          <a:p>
            <a:pPr algn="ctr">
              <a:spcBef>
                <a:spcPts val="600"/>
              </a:spcBef>
              <a:defRPr sz="900">
                <a:solidFill>
                  <a:srgbClr val="64748B"/>
                </a:solidFill>
              </a:defRPr>
            </a:pPr>
            <a:r>
              <a:t>Modal appears with server-side price</a:t>
            </a:r>
          </a:p>
        </p:txBody>
      </p:sp>
      <p:sp>
        <p:nvSpPr>
          <p:cNvPr id="25" name="Right Arrow 24"/>
          <p:cNvSpPr/>
          <p:nvPr/>
        </p:nvSpPr>
        <p:spPr>
          <a:xfrm>
            <a:off x="7882127" y="3108960"/>
            <a:ext cx="82296" cy="16459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973568"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67928" y="2011680"/>
            <a:ext cx="502920" cy="50292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67928" y="2011680"/>
            <a:ext cx="502920" cy="502920"/>
          </a:xfrm>
          <a:prstGeom prst="rect">
            <a:avLst/>
          </a:prstGeom>
          <a:noFill/>
        </p:spPr>
        <p:txBody>
          <a:bodyPr wrap="none">
            <a:spAutoFit/>
          </a:bodyPr>
          <a:lstStyle/>
          <a:p>
            <a:pPr algn="ctr">
              <a:defRPr sz="1100" b="1">
                <a:solidFill>
                  <a:srgbClr val="FFFFFF"/>
                </a:solidFill>
              </a:defRPr>
            </a:pPr>
            <a:r>
              <a:t>5</a:t>
            </a:r>
          </a:p>
        </p:txBody>
      </p:sp>
      <p:sp>
        <p:nvSpPr>
          <p:cNvPr id="29" name="TextBox 28"/>
          <p:cNvSpPr txBox="1"/>
          <p:nvPr/>
        </p:nvSpPr>
        <p:spPr>
          <a:xfrm>
            <a:off x="8065008" y="2651760"/>
            <a:ext cx="1508760" cy="1920240"/>
          </a:xfrm>
          <a:prstGeom prst="rect">
            <a:avLst/>
          </a:prstGeom>
          <a:noFill/>
        </p:spPr>
        <p:txBody>
          <a:bodyPr wrap="square" lIns="0" tIns="0" rIns="0" bIns="0">
            <a:spAutoFit/>
          </a:bodyPr>
          <a:lstStyle/>
          <a:p>
            <a:pPr algn="ctr">
              <a:defRPr sz="1100" b="1">
                <a:solidFill>
                  <a:srgbClr val="0F172A"/>
                </a:solidFill>
              </a:defRPr>
            </a:pPr>
            <a:r>
              <a:t>5. Choose Payment</a:t>
            </a:r>
          </a:p>
          <a:p>
            <a:pPr algn="ctr">
              <a:spcBef>
                <a:spcPts val="600"/>
              </a:spcBef>
              <a:defRPr sz="900">
                <a:solidFill>
                  <a:srgbClr val="64748B"/>
                </a:solidFill>
              </a:defRPr>
            </a:pPr>
            <a:r>
              <a:t>Select Card, Crypto, or Demo Wallet</a:t>
            </a:r>
          </a:p>
        </p:txBody>
      </p:sp>
      <p:sp>
        <p:nvSpPr>
          <p:cNvPr id="30" name="Right Arrow 29"/>
          <p:cNvSpPr/>
          <p:nvPr/>
        </p:nvSpPr>
        <p:spPr>
          <a:xfrm>
            <a:off x="9692640" y="3108960"/>
            <a:ext cx="82296" cy="16459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784080" y="182880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378440" y="201168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378440" y="2011680"/>
            <a:ext cx="502920" cy="502920"/>
          </a:xfrm>
          <a:prstGeom prst="rect">
            <a:avLst/>
          </a:prstGeom>
          <a:noFill/>
        </p:spPr>
        <p:txBody>
          <a:bodyPr wrap="none">
            <a:spAutoFit/>
          </a:bodyPr>
          <a:lstStyle/>
          <a:p>
            <a:pPr algn="ctr">
              <a:defRPr sz="1100" b="1">
                <a:solidFill>
                  <a:srgbClr val="FFFFFF"/>
                </a:solidFill>
              </a:defRPr>
            </a:pPr>
            <a:r>
              <a:t>6</a:t>
            </a:r>
          </a:p>
        </p:txBody>
      </p:sp>
      <p:sp>
        <p:nvSpPr>
          <p:cNvPr id="34" name="TextBox 33"/>
          <p:cNvSpPr txBox="1"/>
          <p:nvPr/>
        </p:nvSpPr>
        <p:spPr>
          <a:xfrm>
            <a:off x="9875520" y="2651760"/>
            <a:ext cx="1508760" cy="1920240"/>
          </a:xfrm>
          <a:prstGeom prst="rect">
            <a:avLst/>
          </a:prstGeom>
          <a:noFill/>
        </p:spPr>
        <p:txBody>
          <a:bodyPr wrap="square" lIns="0" tIns="0" rIns="0" bIns="0">
            <a:spAutoFit/>
          </a:bodyPr>
          <a:lstStyle/>
          <a:p>
            <a:pPr algn="ctr">
              <a:defRPr sz="1100" b="1">
                <a:solidFill>
                  <a:srgbClr val="0F172A"/>
                </a:solidFill>
              </a:defRPr>
            </a:pPr>
            <a:r>
              <a:t>6. Confirmation</a:t>
            </a:r>
          </a:p>
          <a:p>
            <a:pPr algn="ctr">
              <a:spcBef>
                <a:spcPts val="600"/>
              </a:spcBef>
              <a:defRPr sz="900">
                <a:solidFill>
                  <a:srgbClr val="64748B"/>
                </a:solidFill>
              </a:defRPr>
            </a:pPr>
            <a:r>
              <a:t>Instant status update &amp; live booking ID</a:t>
            </a:r>
          </a:p>
        </p:txBody>
      </p:sp>
      <p:sp>
        <p:nvSpPr>
          <p:cNvPr id="35" name="Rounded Rectangle 34"/>
          <p:cNvSpPr/>
          <p:nvPr/>
        </p:nvSpPr>
        <p:spPr>
          <a:xfrm>
            <a:off x="731520" y="4983480"/>
            <a:ext cx="10728655" cy="123444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5120640"/>
            <a:ext cx="10149840" cy="914400"/>
          </a:xfrm>
          <a:prstGeom prst="rect">
            <a:avLst/>
          </a:prstGeom>
          <a:noFill/>
        </p:spPr>
        <p:txBody>
          <a:bodyPr wrap="square">
            <a:spAutoFit/>
          </a:bodyPr>
          <a:lstStyle/>
          <a:p>
            <a:pPr>
              <a:defRPr sz="1050" b="1">
                <a:solidFill>
                  <a:srgbClr val="B45309"/>
                </a:solidFill>
              </a:defRPr>
            </a:pPr>
            <a:r>
              <a:t>💡 UX DESIGN PRINCIPLE: PROGRESSIVE DISCLOSURE</a:t>
            </a:r>
          </a:p>
          <a:p>
            <a:pPr>
              <a:spcBef>
                <a:spcPts val="300"/>
              </a:spcBef>
              <a:defRPr sz="950">
                <a:solidFill>
                  <a:srgbClr val="0F172A"/>
                </a:solidFill>
              </a:defRPr>
            </a:pPr>
            <a:r>
              <a:t>The user flow follows progressive disclosure: high-level destination cards spark initial interest, detailed itineraries provide validation on demand, and checkout remains contained in a non-disruptive modal. Users never lose their browsing context.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05 / WIREFRAME TO HIGH-FIDELITY</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Structure Was Validated Before Visual Polish</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83080"/>
            <a:ext cx="4663440" cy="320040"/>
          </a:xfrm>
          <a:prstGeom prst="rect">
            <a:avLst/>
          </a:prstGeom>
          <a:noFill/>
        </p:spPr>
        <p:txBody>
          <a:bodyPr wrap="none">
            <a:spAutoFit/>
          </a:bodyPr>
          <a:lstStyle/>
          <a:p>
            <a:pPr>
              <a:defRPr sz="1100" b="1">
                <a:solidFill>
                  <a:srgbClr val="64748B"/>
                </a:solidFill>
              </a:defRPr>
            </a:pPr>
            <a:r>
              <a:t>LOW-FIDELITY STRUCTURE (EARLY EXPLORATION)</a:t>
            </a:r>
          </a:p>
        </p:txBody>
      </p:sp>
      <p:sp>
        <p:nvSpPr>
          <p:cNvPr id="8" name="TextBox 7"/>
          <p:cNvSpPr txBox="1"/>
          <p:nvPr/>
        </p:nvSpPr>
        <p:spPr>
          <a:xfrm>
            <a:off x="1005840" y="2240280"/>
            <a:ext cx="4663440" cy="868680"/>
          </a:xfrm>
          <a:prstGeom prst="rect">
            <a:avLst/>
          </a:prstGeom>
          <a:noFill/>
        </p:spPr>
        <p:txBody>
          <a:bodyPr wrap="square" lIns="0" tIns="0" rIns="0" bIns="0">
            <a:spAutoFit/>
          </a:bodyPr>
          <a:lstStyle/>
          <a:p>
            <a:pPr>
              <a:defRPr sz="1050" b="1">
                <a:solidFill>
                  <a:srgbClr val="0F172A"/>
                </a:solidFill>
              </a:defRPr>
            </a:pPr>
            <a:r>
              <a:t>📐  Greyscale Grid Layout</a:t>
            </a:r>
          </a:p>
          <a:p>
            <a:pPr>
              <a:spcBef>
                <a:spcPts val="200"/>
              </a:spcBef>
              <a:defRPr sz="950">
                <a:solidFill>
                  <a:srgbClr val="64748B"/>
                </a:solidFill>
              </a:defRPr>
            </a:pPr>
            <a:r>
              <a:t>Focused strictly on element hierarchy, card proportions (340px min-width), and search-bar placement without color bias.</a:t>
            </a:r>
          </a:p>
        </p:txBody>
      </p:sp>
      <p:sp>
        <p:nvSpPr>
          <p:cNvPr id="9" name="TextBox 8"/>
          <p:cNvSpPr txBox="1"/>
          <p:nvPr/>
        </p:nvSpPr>
        <p:spPr>
          <a:xfrm>
            <a:off x="1005840" y="3200400"/>
            <a:ext cx="4663440" cy="868680"/>
          </a:xfrm>
          <a:prstGeom prst="rect">
            <a:avLst/>
          </a:prstGeom>
          <a:noFill/>
        </p:spPr>
        <p:txBody>
          <a:bodyPr wrap="square" lIns="0" tIns="0" rIns="0" bIns="0">
            <a:spAutoFit/>
          </a:bodyPr>
          <a:lstStyle/>
          <a:p>
            <a:pPr>
              <a:defRPr sz="1050" b="1">
                <a:solidFill>
                  <a:srgbClr val="0F172A"/>
                </a:solidFill>
              </a:defRPr>
            </a:pPr>
            <a:r>
              <a:t>📐  Whitespace &amp; Scanning Patterns</a:t>
            </a:r>
          </a:p>
          <a:p>
            <a:pPr>
              <a:spcBef>
                <a:spcPts val="200"/>
              </a:spcBef>
              <a:defRPr sz="950">
                <a:solidFill>
                  <a:srgbClr val="64748B"/>
                </a:solidFill>
              </a:defRPr>
            </a:pPr>
            <a:r>
              <a:t>Arranged headline, duration badges, and pricing tags using the F-shaped reading pattern for quick scannability.</a:t>
            </a:r>
          </a:p>
        </p:txBody>
      </p:sp>
      <p:sp>
        <p:nvSpPr>
          <p:cNvPr id="10" name="TextBox 9"/>
          <p:cNvSpPr txBox="1"/>
          <p:nvPr/>
        </p:nvSpPr>
        <p:spPr>
          <a:xfrm>
            <a:off x="1005840" y="4160520"/>
            <a:ext cx="4663440" cy="868680"/>
          </a:xfrm>
          <a:prstGeom prst="rect">
            <a:avLst/>
          </a:prstGeom>
          <a:noFill/>
        </p:spPr>
        <p:txBody>
          <a:bodyPr wrap="square" lIns="0" tIns="0" rIns="0" bIns="0">
            <a:spAutoFit/>
          </a:bodyPr>
          <a:lstStyle/>
          <a:p>
            <a:pPr>
              <a:defRPr sz="1050" b="1">
                <a:solidFill>
                  <a:srgbClr val="0F172A"/>
                </a:solidFill>
              </a:defRPr>
            </a:pPr>
            <a:r>
              <a:t>📐  Form Field Accessibility</a:t>
            </a:r>
          </a:p>
          <a:p>
            <a:pPr>
              <a:spcBef>
                <a:spcPts val="200"/>
              </a:spcBef>
              <a:defRPr sz="950">
                <a:solidFill>
                  <a:srgbClr val="64748B"/>
                </a:solidFill>
              </a:defRPr>
            </a:pPr>
            <a:r>
              <a:t>Grouped Destination, Check In, Check Out, and Guests inputs into balanced horizontal slots with clear labels.</a:t>
            </a:r>
          </a:p>
        </p:txBody>
      </p:sp>
      <p:sp>
        <p:nvSpPr>
          <p:cNvPr id="11" name="TextBox 10"/>
          <p:cNvSpPr txBox="1"/>
          <p:nvPr/>
        </p:nvSpPr>
        <p:spPr>
          <a:xfrm>
            <a:off x="1005840" y="5120640"/>
            <a:ext cx="4663440" cy="868680"/>
          </a:xfrm>
          <a:prstGeom prst="rect">
            <a:avLst/>
          </a:prstGeom>
          <a:noFill/>
        </p:spPr>
        <p:txBody>
          <a:bodyPr wrap="square" lIns="0" tIns="0" rIns="0" bIns="0">
            <a:spAutoFit/>
          </a:bodyPr>
          <a:lstStyle/>
          <a:p>
            <a:pPr>
              <a:defRPr sz="1050" b="1">
                <a:solidFill>
                  <a:srgbClr val="0F172A"/>
                </a:solidFill>
              </a:defRPr>
            </a:pPr>
            <a:r>
              <a:t>📐  Button Action Prominence</a:t>
            </a:r>
          </a:p>
          <a:p>
            <a:pPr>
              <a:spcBef>
                <a:spcPts val="200"/>
              </a:spcBef>
              <a:defRPr sz="950">
                <a:solidFill>
                  <a:srgbClr val="64748B"/>
                </a:solidFill>
              </a:defRPr>
            </a:pPr>
            <a:r>
              <a:t>Identified primary call-to-action positions (Search, View Details, Reserve) before applying gradients or brand marks.</a:t>
            </a:r>
          </a:p>
        </p:txBody>
      </p:sp>
      <p:sp>
        <p:nvSpPr>
          <p:cNvPr id="12" name="Rounded Rectangle 11"/>
          <p:cNvSpPr/>
          <p:nvPr/>
        </p:nvSpPr>
        <p:spPr>
          <a:xfrm>
            <a:off x="6248095"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22415" y="1783080"/>
            <a:ext cx="4663440" cy="320040"/>
          </a:xfrm>
          <a:prstGeom prst="rect">
            <a:avLst/>
          </a:prstGeom>
          <a:noFill/>
        </p:spPr>
        <p:txBody>
          <a:bodyPr wrap="none">
            <a:spAutoFit/>
          </a:bodyPr>
          <a:lstStyle/>
          <a:p>
            <a:pPr>
              <a:defRPr sz="1100" b="1">
                <a:solidFill>
                  <a:srgbClr val="F97316"/>
                </a:solidFill>
              </a:defRPr>
            </a:pPr>
            <a:r>
              <a:t>HIGH-FIDELITY DESIGN TRANSITION (FIGMA)</a:t>
            </a:r>
          </a:p>
        </p:txBody>
      </p:sp>
      <p:sp>
        <p:nvSpPr>
          <p:cNvPr id="14" name="TextBox 13"/>
          <p:cNvSpPr txBox="1"/>
          <p:nvPr/>
        </p:nvSpPr>
        <p:spPr>
          <a:xfrm>
            <a:off x="6522415" y="2240280"/>
            <a:ext cx="4663440" cy="868680"/>
          </a:xfrm>
          <a:prstGeom prst="rect">
            <a:avLst/>
          </a:prstGeom>
          <a:noFill/>
        </p:spPr>
        <p:txBody>
          <a:bodyPr wrap="square" lIns="0" tIns="0" rIns="0" bIns="0">
            <a:spAutoFit/>
          </a:bodyPr>
          <a:lstStyle/>
          <a:p>
            <a:pPr>
              <a:defRPr sz="1050" b="1">
                <a:solidFill>
                  <a:srgbClr val="0F172A"/>
                </a:solidFill>
              </a:defRPr>
            </a:pPr>
            <a:r>
              <a:t>✨  SAFAR Brand Identity Integration</a:t>
            </a:r>
          </a:p>
          <a:p>
            <a:pPr>
              <a:spcBef>
                <a:spcPts val="200"/>
              </a:spcBef>
              <a:defRPr sz="950">
                <a:solidFill>
                  <a:srgbClr val="64748B"/>
                </a:solidFill>
              </a:defRPr>
            </a:pPr>
            <a:r>
              <a:t>Applied the authentic crescent-plane brand mark and vibrant SAFAR Orange (#F97316) for emotional resonance.</a:t>
            </a:r>
          </a:p>
        </p:txBody>
      </p:sp>
      <p:sp>
        <p:nvSpPr>
          <p:cNvPr id="15" name="TextBox 14"/>
          <p:cNvSpPr txBox="1"/>
          <p:nvPr/>
        </p:nvSpPr>
        <p:spPr>
          <a:xfrm>
            <a:off x="6522415" y="3200400"/>
            <a:ext cx="4663440" cy="868680"/>
          </a:xfrm>
          <a:prstGeom prst="rect">
            <a:avLst/>
          </a:prstGeom>
          <a:noFill/>
        </p:spPr>
        <p:txBody>
          <a:bodyPr wrap="square" lIns="0" tIns="0" rIns="0" bIns="0">
            <a:spAutoFit/>
          </a:bodyPr>
          <a:lstStyle/>
          <a:p>
            <a:pPr>
              <a:defRPr sz="1050" b="1">
                <a:solidFill>
                  <a:srgbClr val="0F172A"/>
                </a:solidFill>
              </a:defRPr>
            </a:pPr>
            <a:r>
              <a:t>✨  Rich Photographic Imagery</a:t>
            </a:r>
          </a:p>
          <a:p>
            <a:pPr>
              <a:spcBef>
                <a:spcPts val="200"/>
              </a:spcBef>
              <a:defRPr sz="950">
                <a:solidFill>
                  <a:srgbClr val="64748B"/>
                </a:solidFill>
              </a:defRPr>
            </a:pPr>
            <a:r>
              <a:t>Curated high-resolution imagery for Ratargul, Maldives, Bali, and Paris to elevate perceived travel value.</a:t>
            </a:r>
          </a:p>
        </p:txBody>
      </p:sp>
      <p:sp>
        <p:nvSpPr>
          <p:cNvPr id="16" name="TextBox 15"/>
          <p:cNvSpPr txBox="1"/>
          <p:nvPr/>
        </p:nvSpPr>
        <p:spPr>
          <a:xfrm>
            <a:off x="6522415" y="4160520"/>
            <a:ext cx="4663440" cy="868680"/>
          </a:xfrm>
          <a:prstGeom prst="rect">
            <a:avLst/>
          </a:prstGeom>
          <a:noFill/>
        </p:spPr>
        <p:txBody>
          <a:bodyPr wrap="square" lIns="0" tIns="0" rIns="0" bIns="0">
            <a:spAutoFit/>
          </a:bodyPr>
          <a:lstStyle/>
          <a:p>
            <a:pPr>
              <a:defRPr sz="1050" b="1">
                <a:solidFill>
                  <a:srgbClr val="0F172A"/>
                </a:solidFill>
              </a:defRPr>
            </a:pPr>
            <a:r>
              <a:t>✨  Glassmorphism &amp; Micro-Shadows</a:t>
            </a:r>
          </a:p>
          <a:p>
            <a:pPr>
              <a:spcBef>
                <a:spcPts val="200"/>
              </a:spcBef>
              <a:defRPr sz="950">
                <a:solidFill>
                  <a:srgbClr val="64748B"/>
                </a:solidFill>
              </a:defRPr>
            </a:pPr>
            <a:r>
              <a:t>Implemented subtle multi-layered elevation (0 4px 20px rgba(0,0,0,0.06)) and frosted-glass navbar blurs.</a:t>
            </a:r>
          </a:p>
        </p:txBody>
      </p:sp>
      <p:sp>
        <p:nvSpPr>
          <p:cNvPr id="17" name="TextBox 16"/>
          <p:cNvSpPr txBox="1"/>
          <p:nvPr/>
        </p:nvSpPr>
        <p:spPr>
          <a:xfrm>
            <a:off x="6522415" y="5120640"/>
            <a:ext cx="4663440" cy="868680"/>
          </a:xfrm>
          <a:prstGeom prst="rect">
            <a:avLst/>
          </a:prstGeom>
          <a:noFill/>
        </p:spPr>
        <p:txBody>
          <a:bodyPr wrap="square" lIns="0" tIns="0" rIns="0" bIns="0">
            <a:spAutoFit/>
          </a:bodyPr>
          <a:lstStyle/>
          <a:p>
            <a:pPr>
              <a:defRPr sz="1050" b="1">
                <a:solidFill>
                  <a:srgbClr val="0F172A"/>
                </a:solidFill>
              </a:defRPr>
            </a:pPr>
            <a:r>
              <a:t>✨  Polished Interactive States</a:t>
            </a:r>
          </a:p>
          <a:p>
            <a:pPr>
              <a:spcBef>
                <a:spcPts val="200"/>
              </a:spcBef>
              <a:defRPr sz="950">
                <a:solidFill>
                  <a:srgbClr val="64748B"/>
                </a:solidFill>
              </a:defRPr>
            </a:pPr>
            <a:r>
              <a:t>Added distinct hover elevations, outline focus rings, and animated badges for real-time status feedback.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06 / DESIGN SYSTEM &amp; DESIGN TOKENS</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A Consistent Design System Makes SAFAR Feel Trustworthy</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3017520" cy="320040"/>
          </a:xfrm>
          <a:prstGeom prst="rect">
            <a:avLst/>
          </a:prstGeom>
          <a:noFill/>
        </p:spPr>
        <p:txBody>
          <a:bodyPr wrap="none">
            <a:spAutoFit/>
          </a:bodyPr>
          <a:lstStyle/>
          <a:p>
            <a:pPr>
              <a:defRPr sz="1000" b="1">
                <a:solidFill>
                  <a:srgbClr val="F97316"/>
                </a:solidFill>
              </a:defRPr>
            </a:pPr>
            <a:r>
              <a:t>COLOR TOKENS (FIGMA STYLES)</a:t>
            </a:r>
          </a:p>
        </p:txBody>
      </p:sp>
      <p:sp>
        <p:nvSpPr>
          <p:cNvPr id="8" name="Rounded Rectangle 7"/>
          <p:cNvSpPr/>
          <p:nvPr/>
        </p:nvSpPr>
        <p:spPr>
          <a:xfrm>
            <a:off x="914400" y="2194560"/>
            <a:ext cx="384048" cy="384048"/>
          </a:xfrm>
          <a:prstGeom prst="roundRect">
            <a:avLst/>
          </a:prstGeom>
          <a:solidFill>
            <a:srgbClr val="F97316"/>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17320" y="2148840"/>
            <a:ext cx="2468880" cy="457200"/>
          </a:xfrm>
          <a:prstGeom prst="rect">
            <a:avLst/>
          </a:prstGeom>
          <a:noFill/>
        </p:spPr>
        <p:txBody>
          <a:bodyPr wrap="square">
            <a:spAutoFit/>
          </a:bodyPr>
          <a:lstStyle/>
          <a:p>
            <a:pPr>
              <a:defRPr sz="950" b="1">
                <a:solidFill>
                  <a:srgbClr val="0F172A"/>
                </a:solidFill>
              </a:defRPr>
            </a:pPr>
            <a:r>
              <a:t>Primary Action</a:t>
            </a:r>
          </a:p>
          <a:p>
            <a:pPr>
              <a:defRPr sz="850">
                <a:solidFill>
                  <a:srgbClr val="64748B"/>
                </a:solidFill>
              </a:defRPr>
            </a:pPr>
            <a:r>
              <a:t>#F97316</a:t>
            </a:r>
          </a:p>
        </p:txBody>
      </p:sp>
      <p:sp>
        <p:nvSpPr>
          <p:cNvPr id="10" name="Rounded Rectangle 9"/>
          <p:cNvSpPr/>
          <p:nvPr/>
        </p:nvSpPr>
        <p:spPr>
          <a:xfrm>
            <a:off x="914400" y="2816352"/>
            <a:ext cx="384048" cy="384048"/>
          </a:xfrm>
          <a:prstGeom prst="roundRect">
            <a:avLst/>
          </a:prstGeom>
          <a:solidFill>
            <a:srgbClr val="0F172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2770632"/>
            <a:ext cx="2468880" cy="457200"/>
          </a:xfrm>
          <a:prstGeom prst="rect">
            <a:avLst/>
          </a:prstGeom>
          <a:noFill/>
        </p:spPr>
        <p:txBody>
          <a:bodyPr wrap="square">
            <a:spAutoFit/>
          </a:bodyPr>
          <a:lstStyle/>
          <a:p>
            <a:pPr>
              <a:defRPr sz="950" b="1">
                <a:solidFill>
                  <a:srgbClr val="0F172A"/>
                </a:solidFill>
              </a:defRPr>
            </a:pPr>
            <a:r>
              <a:t>Deep Slate (Text/Nav)</a:t>
            </a:r>
          </a:p>
          <a:p>
            <a:pPr>
              <a:defRPr sz="850">
                <a:solidFill>
                  <a:srgbClr val="64748B"/>
                </a:solidFill>
              </a:defRPr>
            </a:pPr>
            <a:r>
              <a:t>#0F172A</a:t>
            </a:r>
          </a:p>
        </p:txBody>
      </p:sp>
      <p:sp>
        <p:nvSpPr>
          <p:cNvPr id="12" name="Rounded Rectangle 11"/>
          <p:cNvSpPr/>
          <p:nvPr/>
        </p:nvSpPr>
        <p:spPr>
          <a:xfrm>
            <a:off x="914400" y="3438144"/>
            <a:ext cx="384048" cy="384048"/>
          </a:xfrm>
          <a:prstGeom prst="roundRect">
            <a:avLst/>
          </a:prstGeom>
          <a:solidFill>
            <a:srgbClr val="64748B"/>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3392424"/>
            <a:ext cx="2468880" cy="457200"/>
          </a:xfrm>
          <a:prstGeom prst="rect">
            <a:avLst/>
          </a:prstGeom>
          <a:noFill/>
        </p:spPr>
        <p:txBody>
          <a:bodyPr wrap="square">
            <a:spAutoFit/>
          </a:bodyPr>
          <a:lstStyle/>
          <a:p>
            <a:pPr>
              <a:defRPr sz="950" b="1">
                <a:solidFill>
                  <a:srgbClr val="0F172A"/>
                </a:solidFill>
              </a:defRPr>
            </a:pPr>
            <a:r>
              <a:t>Muted Secondary</a:t>
            </a:r>
          </a:p>
          <a:p>
            <a:pPr>
              <a:defRPr sz="850">
                <a:solidFill>
                  <a:srgbClr val="64748B"/>
                </a:solidFill>
              </a:defRPr>
            </a:pPr>
            <a:r>
              <a:t>#64748B</a:t>
            </a:r>
          </a:p>
        </p:txBody>
      </p:sp>
      <p:sp>
        <p:nvSpPr>
          <p:cNvPr id="14" name="Rounded Rectangle 13"/>
          <p:cNvSpPr/>
          <p:nvPr/>
        </p:nvSpPr>
        <p:spPr>
          <a:xfrm>
            <a:off x="914400" y="4059935"/>
            <a:ext cx="384048" cy="384048"/>
          </a:xfrm>
          <a:prstGeom prst="roundRect">
            <a:avLst/>
          </a:prstGeom>
          <a:solidFill>
            <a:srgbClr val="10B981"/>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17320" y="4014215"/>
            <a:ext cx="2468880" cy="457200"/>
          </a:xfrm>
          <a:prstGeom prst="rect">
            <a:avLst/>
          </a:prstGeom>
          <a:noFill/>
        </p:spPr>
        <p:txBody>
          <a:bodyPr wrap="square">
            <a:spAutoFit/>
          </a:bodyPr>
          <a:lstStyle/>
          <a:p>
            <a:pPr>
              <a:defRPr sz="950" b="1">
                <a:solidFill>
                  <a:srgbClr val="0F172A"/>
                </a:solidFill>
              </a:defRPr>
            </a:pPr>
            <a:r>
              <a:t>Success / Approved</a:t>
            </a:r>
          </a:p>
          <a:p>
            <a:pPr>
              <a:defRPr sz="850">
                <a:solidFill>
                  <a:srgbClr val="64748B"/>
                </a:solidFill>
              </a:defRPr>
            </a:pPr>
            <a:r>
              <a:t>#10B981</a:t>
            </a:r>
          </a:p>
        </p:txBody>
      </p:sp>
      <p:sp>
        <p:nvSpPr>
          <p:cNvPr id="16" name="Rounded Rectangle 15"/>
          <p:cNvSpPr/>
          <p:nvPr/>
        </p:nvSpPr>
        <p:spPr>
          <a:xfrm>
            <a:off x="914400" y="4681728"/>
            <a:ext cx="384048" cy="384048"/>
          </a:xfrm>
          <a:prstGeom prst="roundRect">
            <a:avLst/>
          </a:prstGeom>
          <a:solidFill>
            <a:srgbClr val="E11D4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17320" y="4636008"/>
            <a:ext cx="2468880" cy="457200"/>
          </a:xfrm>
          <a:prstGeom prst="rect">
            <a:avLst/>
          </a:prstGeom>
          <a:noFill/>
        </p:spPr>
        <p:txBody>
          <a:bodyPr wrap="square">
            <a:spAutoFit/>
          </a:bodyPr>
          <a:lstStyle/>
          <a:p>
            <a:pPr>
              <a:defRPr sz="950" b="1">
                <a:solidFill>
                  <a:srgbClr val="0F172A"/>
                </a:solidFill>
              </a:defRPr>
            </a:pPr>
            <a:r>
              <a:t>Danger / Cancel</a:t>
            </a:r>
          </a:p>
          <a:p>
            <a:pPr>
              <a:defRPr sz="850">
                <a:solidFill>
                  <a:srgbClr val="64748B"/>
                </a:solidFill>
              </a:defRPr>
            </a:pPr>
            <a:r>
              <a:t>#E11D48</a:t>
            </a:r>
          </a:p>
        </p:txBody>
      </p:sp>
      <p:sp>
        <p:nvSpPr>
          <p:cNvPr id="18" name="Rounded Rectangle 17"/>
          <p:cNvSpPr/>
          <p:nvPr/>
        </p:nvSpPr>
        <p:spPr>
          <a:xfrm>
            <a:off x="914400" y="5303520"/>
            <a:ext cx="384048" cy="384048"/>
          </a:xfrm>
          <a:prstGeom prst="round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17320" y="5257800"/>
            <a:ext cx="2468880" cy="457200"/>
          </a:xfrm>
          <a:prstGeom prst="rect">
            <a:avLst/>
          </a:prstGeom>
          <a:noFill/>
        </p:spPr>
        <p:txBody>
          <a:bodyPr wrap="square">
            <a:spAutoFit/>
          </a:bodyPr>
          <a:lstStyle/>
          <a:p>
            <a:pPr>
              <a:defRPr sz="950" b="1">
                <a:solidFill>
                  <a:srgbClr val="0F172A"/>
                </a:solidFill>
              </a:defRPr>
            </a:pPr>
            <a:r>
              <a:t>Surface Light</a:t>
            </a:r>
          </a:p>
          <a:p>
            <a:pPr>
              <a:defRPr sz="850">
                <a:solidFill>
                  <a:srgbClr val="64748B"/>
                </a:solidFill>
              </a:defRPr>
            </a:pPr>
            <a:r>
              <a:t>#F8FAFC</a:t>
            </a:r>
          </a:p>
        </p:txBody>
      </p:sp>
      <p:sp>
        <p:nvSpPr>
          <p:cNvPr id="20" name="Rounded Rectangle 19"/>
          <p:cNvSpPr/>
          <p:nvPr/>
        </p:nvSpPr>
        <p:spPr>
          <a:xfrm>
            <a:off x="4389120"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0" y="1783080"/>
            <a:ext cx="3017520" cy="320040"/>
          </a:xfrm>
          <a:prstGeom prst="rect">
            <a:avLst/>
          </a:prstGeom>
          <a:noFill/>
        </p:spPr>
        <p:txBody>
          <a:bodyPr wrap="none">
            <a:spAutoFit/>
          </a:bodyPr>
          <a:lstStyle/>
          <a:p>
            <a:pPr>
              <a:defRPr sz="1000" b="1">
                <a:solidFill>
                  <a:srgbClr val="F97316"/>
                </a:solidFill>
              </a:defRPr>
            </a:pPr>
            <a:r>
              <a:t>TYPOGRAPHY SCALE (INTER)</a:t>
            </a:r>
          </a:p>
        </p:txBody>
      </p:sp>
      <p:sp>
        <p:nvSpPr>
          <p:cNvPr id="22" name="TextBox 21"/>
          <p:cNvSpPr txBox="1"/>
          <p:nvPr/>
        </p:nvSpPr>
        <p:spPr>
          <a:xfrm>
            <a:off x="4572000" y="2194560"/>
            <a:ext cx="3017520" cy="685800"/>
          </a:xfrm>
          <a:prstGeom prst="rect">
            <a:avLst/>
          </a:prstGeom>
          <a:noFill/>
        </p:spPr>
        <p:txBody>
          <a:bodyPr wrap="square">
            <a:spAutoFit/>
          </a:bodyPr>
          <a:lstStyle/>
          <a:p>
            <a:pPr>
              <a:defRPr sz="1100" b="1">
                <a:solidFill>
                  <a:srgbClr val="0F172A"/>
                </a:solidFill>
              </a:defRPr>
            </a:pPr>
            <a:r>
              <a:t>Display Title</a:t>
            </a:r>
          </a:p>
          <a:p>
            <a:pPr>
              <a:defRPr sz="850">
                <a:solidFill>
                  <a:srgbClr val="64748B"/>
                </a:solidFill>
              </a:defRPr>
            </a:pPr>
            <a:r>
              <a:t>36px / Bold 800 • Hero Headlines</a:t>
            </a:r>
          </a:p>
        </p:txBody>
      </p:sp>
      <p:sp>
        <p:nvSpPr>
          <p:cNvPr id="23" name="TextBox 22"/>
          <p:cNvSpPr txBox="1"/>
          <p:nvPr/>
        </p:nvSpPr>
        <p:spPr>
          <a:xfrm>
            <a:off x="4572000" y="2944368"/>
            <a:ext cx="3017520" cy="685800"/>
          </a:xfrm>
          <a:prstGeom prst="rect">
            <a:avLst/>
          </a:prstGeom>
          <a:noFill/>
        </p:spPr>
        <p:txBody>
          <a:bodyPr wrap="square">
            <a:spAutoFit/>
          </a:bodyPr>
          <a:lstStyle/>
          <a:p>
            <a:pPr>
              <a:defRPr sz="1100" b="1">
                <a:solidFill>
                  <a:srgbClr val="0F172A"/>
                </a:solidFill>
              </a:defRPr>
            </a:pPr>
            <a:r>
              <a:t>Section Heading</a:t>
            </a:r>
          </a:p>
          <a:p>
            <a:pPr>
              <a:defRPr sz="850">
                <a:solidFill>
                  <a:srgbClr val="64748B"/>
                </a:solidFill>
              </a:defRPr>
            </a:pPr>
            <a:r>
              <a:t>24px / Bold 700 • Category &amp; Section Titles</a:t>
            </a:r>
          </a:p>
        </p:txBody>
      </p:sp>
      <p:sp>
        <p:nvSpPr>
          <p:cNvPr id="24" name="TextBox 23"/>
          <p:cNvSpPr txBox="1"/>
          <p:nvPr/>
        </p:nvSpPr>
        <p:spPr>
          <a:xfrm>
            <a:off x="4572000" y="3694176"/>
            <a:ext cx="3017520" cy="685800"/>
          </a:xfrm>
          <a:prstGeom prst="rect">
            <a:avLst/>
          </a:prstGeom>
          <a:noFill/>
        </p:spPr>
        <p:txBody>
          <a:bodyPr wrap="square">
            <a:spAutoFit/>
          </a:bodyPr>
          <a:lstStyle/>
          <a:p>
            <a:pPr>
              <a:defRPr sz="1100" b="1">
                <a:solidFill>
                  <a:srgbClr val="0F172A"/>
                </a:solidFill>
              </a:defRPr>
            </a:pPr>
            <a:r>
              <a:t>Card Title</a:t>
            </a:r>
          </a:p>
          <a:p>
            <a:pPr>
              <a:defRPr sz="850">
                <a:solidFill>
                  <a:srgbClr val="64748B"/>
                </a:solidFill>
              </a:defRPr>
            </a:pPr>
            <a:r>
              <a:t>18px / SemiBold 600 • Package &amp; Hotel Titles</a:t>
            </a:r>
          </a:p>
        </p:txBody>
      </p:sp>
      <p:sp>
        <p:nvSpPr>
          <p:cNvPr id="25" name="TextBox 24"/>
          <p:cNvSpPr txBox="1"/>
          <p:nvPr/>
        </p:nvSpPr>
        <p:spPr>
          <a:xfrm>
            <a:off x="4572000" y="4443983"/>
            <a:ext cx="3017520" cy="685800"/>
          </a:xfrm>
          <a:prstGeom prst="rect">
            <a:avLst/>
          </a:prstGeom>
          <a:noFill/>
        </p:spPr>
        <p:txBody>
          <a:bodyPr wrap="square">
            <a:spAutoFit/>
          </a:bodyPr>
          <a:lstStyle/>
          <a:p>
            <a:pPr>
              <a:defRPr sz="1100" b="1">
                <a:solidFill>
                  <a:srgbClr val="0F172A"/>
                </a:solidFill>
              </a:defRPr>
            </a:pPr>
            <a:r>
              <a:t>Body Text</a:t>
            </a:r>
          </a:p>
          <a:p>
            <a:pPr>
              <a:defRPr sz="850">
                <a:solidFill>
                  <a:srgbClr val="64748B"/>
                </a:solidFill>
              </a:defRPr>
            </a:pPr>
            <a:r>
              <a:t>15px / Regular 400 • Descriptions &amp; Details</a:t>
            </a:r>
          </a:p>
        </p:txBody>
      </p:sp>
      <p:sp>
        <p:nvSpPr>
          <p:cNvPr id="26" name="TextBox 25"/>
          <p:cNvSpPr txBox="1"/>
          <p:nvPr/>
        </p:nvSpPr>
        <p:spPr>
          <a:xfrm>
            <a:off x="4572000" y="5193792"/>
            <a:ext cx="3017520" cy="685800"/>
          </a:xfrm>
          <a:prstGeom prst="rect">
            <a:avLst/>
          </a:prstGeom>
          <a:noFill/>
        </p:spPr>
        <p:txBody>
          <a:bodyPr wrap="square">
            <a:spAutoFit/>
          </a:bodyPr>
          <a:lstStyle/>
          <a:p>
            <a:pPr>
              <a:defRPr sz="1100" b="1">
                <a:solidFill>
                  <a:srgbClr val="0F172A"/>
                </a:solidFill>
              </a:defRPr>
            </a:pPr>
            <a:r>
              <a:t>Caption / Badge</a:t>
            </a:r>
          </a:p>
          <a:p>
            <a:pPr>
              <a:defRPr sz="850">
                <a:solidFill>
                  <a:srgbClr val="64748B"/>
                </a:solidFill>
              </a:defRPr>
            </a:pPr>
            <a:r>
              <a:t>12px / Medium 500 • Status &amp; Duration Tags</a:t>
            </a:r>
          </a:p>
        </p:txBody>
      </p:sp>
      <p:sp>
        <p:nvSpPr>
          <p:cNvPr id="27" name="Rounded Rectangle 26"/>
          <p:cNvSpPr/>
          <p:nvPr/>
        </p:nvSpPr>
        <p:spPr>
          <a:xfrm>
            <a:off x="8046720" y="160020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0" y="1783080"/>
            <a:ext cx="3017520" cy="320040"/>
          </a:xfrm>
          <a:prstGeom prst="rect">
            <a:avLst/>
          </a:prstGeom>
          <a:noFill/>
        </p:spPr>
        <p:txBody>
          <a:bodyPr wrap="none">
            <a:spAutoFit/>
          </a:bodyPr>
          <a:lstStyle/>
          <a:p>
            <a:pPr>
              <a:defRPr sz="1000" b="1">
                <a:solidFill>
                  <a:srgbClr val="F97316"/>
                </a:solidFill>
              </a:defRPr>
            </a:pPr>
            <a:r>
              <a:t>UI COMPONENT VARIANTS</a:t>
            </a:r>
          </a:p>
        </p:txBody>
      </p:sp>
      <p:sp>
        <p:nvSpPr>
          <p:cNvPr id="29" name="Rounded Rectangle 28"/>
          <p:cNvSpPr/>
          <p:nvPr/>
        </p:nvSpPr>
        <p:spPr>
          <a:xfrm>
            <a:off x="8229600" y="2194560"/>
            <a:ext cx="3017520" cy="384048"/>
          </a:xfrm>
          <a:prstGeom prst="roundRect">
            <a:avLst/>
          </a:prstGeom>
          <a:solidFill>
            <a:srgbClr val="F97316"/>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0" y="2231136"/>
            <a:ext cx="3017520" cy="320040"/>
          </a:xfrm>
          <a:prstGeom prst="rect">
            <a:avLst/>
          </a:prstGeom>
          <a:noFill/>
        </p:spPr>
        <p:txBody>
          <a:bodyPr wrap="none">
            <a:spAutoFit/>
          </a:bodyPr>
          <a:lstStyle/>
          <a:p>
            <a:pPr algn="ctr">
              <a:defRPr sz="950" b="1">
                <a:solidFill>
                  <a:srgbClr val="FFFFFF"/>
                </a:solidFill>
              </a:defRPr>
            </a:pPr>
            <a:r>
              <a:t>Primary Action Button</a:t>
            </a:r>
          </a:p>
        </p:txBody>
      </p:sp>
      <p:sp>
        <p:nvSpPr>
          <p:cNvPr id="31" name="TextBox 30"/>
          <p:cNvSpPr txBox="1"/>
          <p:nvPr/>
        </p:nvSpPr>
        <p:spPr>
          <a:xfrm>
            <a:off x="8229600" y="2606040"/>
            <a:ext cx="3017520" cy="457200"/>
          </a:xfrm>
          <a:prstGeom prst="rect">
            <a:avLst/>
          </a:prstGeom>
          <a:noFill/>
        </p:spPr>
        <p:txBody>
          <a:bodyPr wrap="square">
            <a:spAutoFit/>
          </a:bodyPr>
          <a:lstStyle/>
          <a:p>
            <a:pPr>
              <a:defRPr sz="800">
                <a:solidFill>
                  <a:srgbClr val="64748B"/>
                </a:solidFill>
              </a:defRPr>
            </a:pPr>
            <a:r>
              <a:t>Filled SAFAR Orange with soft elevation (#F97316)</a:t>
            </a:r>
          </a:p>
        </p:txBody>
      </p:sp>
      <p:sp>
        <p:nvSpPr>
          <p:cNvPr id="32" name="Rounded Rectangle 31"/>
          <p:cNvSpPr/>
          <p:nvPr/>
        </p:nvSpPr>
        <p:spPr>
          <a:xfrm>
            <a:off x="8229600" y="3154680"/>
            <a:ext cx="3017520" cy="3840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0" y="3191256"/>
            <a:ext cx="3017520" cy="320040"/>
          </a:xfrm>
          <a:prstGeom prst="rect">
            <a:avLst/>
          </a:prstGeom>
          <a:noFill/>
        </p:spPr>
        <p:txBody>
          <a:bodyPr wrap="none">
            <a:spAutoFit/>
          </a:bodyPr>
          <a:lstStyle/>
          <a:p>
            <a:pPr algn="ctr">
              <a:defRPr sz="950" b="1">
                <a:solidFill>
                  <a:srgbClr val="0F172A"/>
                </a:solidFill>
              </a:defRPr>
            </a:pPr>
            <a:r>
              <a:t>Secondary Outline</a:t>
            </a:r>
          </a:p>
        </p:txBody>
      </p:sp>
      <p:sp>
        <p:nvSpPr>
          <p:cNvPr id="34" name="TextBox 33"/>
          <p:cNvSpPr txBox="1"/>
          <p:nvPr/>
        </p:nvSpPr>
        <p:spPr>
          <a:xfrm>
            <a:off x="8229600" y="3566160"/>
            <a:ext cx="3017520" cy="457200"/>
          </a:xfrm>
          <a:prstGeom prst="rect">
            <a:avLst/>
          </a:prstGeom>
          <a:noFill/>
        </p:spPr>
        <p:txBody>
          <a:bodyPr wrap="square">
            <a:spAutoFit/>
          </a:bodyPr>
          <a:lstStyle/>
          <a:p>
            <a:pPr>
              <a:defRPr sz="800">
                <a:solidFill>
                  <a:srgbClr val="64748B"/>
                </a:solidFill>
              </a:defRPr>
            </a:pPr>
            <a:r>
              <a:t>Clean 1.5px border with primary hover</a:t>
            </a:r>
          </a:p>
        </p:txBody>
      </p:sp>
      <p:sp>
        <p:nvSpPr>
          <p:cNvPr id="35" name="Rounded Rectangle 34"/>
          <p:cNvSpPr/>
          <p:nvPr/>
        </p:nvSpPr>
        <p:spPr>
          <a:xfrm>
            <a:off x="8229600" y="4114800"/>
            <a:ext cx="3017520" cy="384048"/>
          </a:xfrm>
          <a:prstGeom prst="roundRect">
            <a:avLst/>
          </a:prstGeom>
          <a:solidFill>
            <a:srgbClr val="FFF1F2"/>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0" y="4151376"/>
            <a:ext cx="3017520" cy="320040"/>
          </a:xfrm>
          <a:prstGeom prst="rect">
            <a:avLst/>
          </a:prstGeom>
          <a:noFill/>
        </p:spPr>
        <p:txBody>
          <a:bodyPr wrap="none">
            <a:spAutoFit/>
          </a:bodyPr>
          <a:lstStyle/>
          <a:p>
            <a:pPr algn="ctr">
              <a:defRPr sz="950" b="1">
                <a:solidFill>
                  <a:srgbClr val="E11D48"/>
                </a:solidFill>
              </a:defRPr>
            </a:pPr>
            <a:r>
              <a:t>Danger / Cancel</a:t>
            </a:r>
          </a:p>
        </p:txBody>
      </p:sp>
      <p:sp>
        <p:nvSpPr>
          <p:cNvPr id="37" name="TextBox 36"/>
          <p:cNvSpPr txBox="1"/>
          <p:nvPr/>
        </p:nvSpPr>
        <p:spPr>
          <a:xfrm>
            <a:off x="8229600" y="4526280"/>
            <a:ext cx="3017520" cy="457200"/>
          </a:xfrm>
          <a:prstGeom prst="rect">
            <a:avLst/>
          </a:prstGeom>
          <a:noFill/>
        </p:spPr>
        <p:txBody>
          <a:bodyPr wrap="square">
            <a:spAutoFit/>
          </a:bodyPr>
          <a:lstStyle/>
          <a:p>
            <a:pPr>
              <a:defRPr sz="800">
                <a:solidFill>
                  <a:srgbClr val="64748B"/>
                </a:solidFill>
              </a:defRPr>
            </a:pPr>
            <a:r>
              <a:t>Muted red background with dark red text (#E11D48)</a:t>
            </a:r>
          </a:p>
        </p:txBody>
      </p:sp>
      <p:sp>
        <p:nvSpPr>
          <p:cNvPr id="38" name="Rounded Rectangle 37"/>
          <p:cNvSpPr/>
          <p:nvPr/>
        </p:nvSpPr>
        <p:spPr>
          <a:xfrm>
            <a:off x="8229600" y="5074920"/>
            <a:ext cx="3017520" cy="384048"/>
          </a:xfrm>
          <a:prstGeom prst="roundRect">
            <a:avLst/>
          </a:prstGeom>
          <a:solidFill>
            <a:srgbClr val="ECFDF5"/>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0" y="5111496"/>
            <a:ext cx="3017520" cy="320040"/>
          </a:xfrm>
          <a:prstGeom prst="rect">
            <a:avLst/>
          </a:prstGeom>
          <a:noFill/>
        </p:spPr>
        <p:txBody>
          <a:bodyPr wrap="none">
            <a:spAutoFit/>
          </a:bodyPr>
          <a:lstStyle/>
          <a:p>
            <a:pPr algn="ctr">
              <a:defRPr sz="950" b="1">
                <a:solidFill>
                  <a:srgbClr val="10B981"/>
                </a:solidFill>
              </a:defRPr>
            </a:pPr>
            <a:r>
              <a:t>Status Badges</a:t>
            </a:r>
          </a:p>
        </p:txBody>
      </p:sp>
      <p:sp>
        <p:nvSpPr>
          <p:cNvPr id="40" name="TextBox 39"/>
          <p:cNvSpPr txBox="1"/>
          <p:nvPr/>
        </p:nvSpPr>
        <p:spPr>
          <a:xfrm>
            <a:off x="8229600" y="5486400"/>
            <a:ext cx="3017520" cy="457200"/>
          </a:xfrm>
          <a:prstGeom prst="rect">
            <a:avLst/>
          </a:prstGeom>
          <a:noFill/>
        </p:spPr>
        <p:txBody>
          <a:bodyPr wrap="square">
            <a:spAutoFit/>
          </a:bodyPr>
          <a:lstStyle/>
          <a:p>
            <a:pPr>
              <a:defRPr sz="800">
                <a:solidFill>
                  <a:srgbClr val="64748B"/>
                </a:solidFill>
              </a:defRPr>
            </a:pPr>
            <a:r>
              <a:t>Approved (Green), Pending (Amber), Rejected (Red)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07 / KEY TRAVELER SCREENS</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Visual Discovery Leads to Confident Booking Decisions</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783080"/>
            <a:ext cx="489204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801368"/>
            <a:ext cx="4709160" cy="256032"/>
          </a:xfrm>
          <a:prstGeom prst="rect">
            <a:avLst/>
          </a:prstGeom>
          <a:noFill/>
        </p:spPr>
        <p:txBody>
          <a:bodyPr wrap="none">
            <a:spAutoFit/>
          </a:bodyPr>
          <a:lstStyle/>
          <a:p>
            <a:pPr>
              <a:defRPr sz="1100" b="1">
                <a:solidFill>
                  <a:srgbClr val="0F172A"/>
                </a:solidFill>
              </a:defRPr>
            </a:pPr>
            <a:r>
              <a:t>1. Landing &amp; Hero Search</a:t>
            </a:r>
          </a:p>
        </p:txBody>
      </p:sp>
      <p:sp>
        <p:nvSpPr>
          <p:cNvPr id="9" name="TextBox 8"/>
          <p:cNvSpPr txBox="1"/>
          <p:nvPr/>
        </p:nvSpPr>
        <p:spPr>
          <a:xfrm>
            <a:off x="1005840" y="2194560"/>
            <a:ext cx="4709160" cy="1005840"/>
          </a:xfrm>
          <a:prstGeom prst="rect">
            <a:avLst/>
          </a:prstGeom>
          <a:noFill/>
        </p:spPr>
        <p:txBody>
          <a:bodyPr wrap="square">
            <a:spAutoFit/>
          </a:bodyPr>
          <a:lstStyle/>
          <a:p>
            <a:pPr>
              <a:defRPr sz="1000">
                <a:solidFill>
                  <a:srgbClr val="64748B"/>
                </a:solidFill>
              </a:defRPr>
            </a:pPr>
            <a:r>
              <a:t>Prominent 4-parameter search box (Destination, Check-In, Check-Out, Guests) with quick filter pills for instant discovery.</a:t>
            </a:r>
          </a:p>
        </p:txBody>
      </p:sp>
      <p:sp>
        <p:nvSpPr>
          <p:cNvPr id="10" name="TextBox 9"/>
          <p:cNvSpPr txBox="1"/>
          <p:nvPr/>
        </p:nvSpPr>
        <p:spPr>
          <a:xfrm>
            <a:off x="1005840" y="3291840"/>
            <a:ext cx="4709160" cy="320040"/>
          </a:xfrm>
          <a:prstGeom prst="rect">
            <a:avLst/>
          </a:prstGeom>
          <a:noFill/>
        </p:spPr>
        <p:txBody>
          <a:bodyPr wrap="none">
            <a:spAutoFit/>
          </a:bodyPr>
          <a:lstStyle/>
          <a:p>
            <a:pPr>
              <a:defRPr sz="850" b="1">
                <a:solidFill>
                  <a:srgbClr val="F97316"/>
                </a:solidFill>
              </a:defRPr>
            </a:pPr>
            <a:r>
              <a:t>📍 Figma Frame: Desktop_Landing_Hero</a:t>
            </a:r>
          </a:p>
        </p:txBody>
      </p:sp>
      <p:sp>
        <p:nvSpPr>
          <p:cNvPr id="11" name="Rounded Rectangle 10"/>
          <p:cNvSpPr/>
          <p:nvPr/>
        </p:nvSpPr>
        <p:spPr>
          <a:xfrm>
            <a:off x="6172200" y="160020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55080" y="1783080"/>
            <a:ext cx="489204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801368"/>
            <a:ext cx="4709160" cy="256032"/>
          </a:xfrm>
          <a:prstGeom prst="rect">
            <a:avLst/>
          </a:prstGeom>
          <a:noFill/>
        </p:spPr>
        <p:txBody>
          <a:bodyPr wrap="none">
            <a:spAutoFit/>
          </a:bodyPr>
          <a:lstStyle/>
          <a:p>
            <a:pPr>
              <a:defRPr sz="1100" b="1">
                <a:solidFill>
                  <a:srgbClr val="0F172A"/>
                </a:solidFill>
              </a:defRPr>
            </a:pPr>
            <a:r>
              <a:t>2. Curated Explore Catalog</a:t>
            </a:r>
          </a:p>
        </p:txBody>
      </p:sp>
      <p:sp>
        <p:nvSpPr>
          <p:cNvPr id="14" name="TextBox 13"/>
          <p:cNvSpPr txBox="1"/>
          <p:nvPr/>
        </p:nvSpPr>
        <p:spPr>
          <a:xfrm>
            <a:off x="6446520" y="2194560"/>
            <a:ext cx="4709160" cy="1005840"/>
          </a:xfrm>
          <a:prstGeom prst="rect">
            <a:avLst/>
          </a:prstGeom>
          <a:noFill/>
        </p:spPr>
        <p:txBody>
          <a:bodyPr wrap="square">
            <a:spAutoFit/>
          </a:bodyPr>
          <a:lstStyle/>
          <a:p>
            <a:pPr>
              <a:defRPr sz="1000">
                <a:solidFill>
                  <a:srgbClr val="64748B"/>
                </a:solidFill>
              </a:defRPr>
            </a:pPr>
            <a:r>
              <a:t>Interactive grid displaying Tour Packages and Luxury Hotels with duration tags, ratings, and instant price badges.</a:t>
            </a:r>
          </a:p>
        </p:txBody>
      </p:sp>
      <p:sp>
        <p:nvSpPr>
          <p:cNvPr id="15" name="TextBox 14"/>
          <p:cNvSpPr txBox="1"/>
          <p:nvPr/>
        </p:nvSpPr>
        <p:spPr>
          <a:xfrm>
            <a:off x="6446520" y="3291840"/>
            <a:ext cx="4709160" cy="320040"/>
          </a:xfrm>
          <a:prstGeom prst="rect">
            <a:avLst/>
          </a:prstGeom>
          <a:noFill/>
        </p:spPr>
        <p:txBody>
          <a:bodyPr wrap="none">
            <a:spAutoFit/>
          </a:bodyPr>
          <a:lstStyle/>
          <a:p>
            <a:pPr>
              <a:defRPr sz="850" b="1">
                <a:solidFill>
                  <a:srgbClr val="F97316"/>
                </a:solidFill>
              </a:defRPr>
            </a:pPr>
            <a:r>
              <a:t>📍 Figma Frame: Explore_Catalog_Grid</a:t>
            </a:r>
          </a:p>
        </p:txBody>
      </p:sp>
      <p:sp>
        <p:nvSpPr>
          <p:cNvPr id="16" name="Rounded Rectangle 15"/>
          <p:cNvSpPr/>
          <p:nvPr/>
        </p:nvSpPr>
        <p:spPr>
          <a:xfrm>
            <a:off x="731520" y="393192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4400" y="4114800"/>
            <a:ext cx="489204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133088"/>
            <a:ext cx="4709160" cy="256032"/>
          </a:xfrm>
          <a:prstGeom prst="rect">
            <a:avLst/>
          </a:prstGeom>
          <a:noFill/>
        </p:spPr>
        <p:txBody>
          <a:bodyPr wrap="none">
            <a:spAutoFit/>
          </a:bodyPr>
          <a:lstStyle/>
          <a:p>
            <a:pPr>
              <a:defRPr sz="1100" b="1">
                <a:solidFill>
                  <a:srgbClr val="0F172A"/>
                </a:solidFill>
              </a:defRPr>
            </a:pPr>
            <a:r>
              <a:t>3. Detailed Itinerary View</a:t>
            </a:r>
          </a:p>
        </p:txBody>
      </p:sp>
      <p:sp>
        <p:nvSpPr>
          <p:cNvPr id="19" name="TextBox 18"/>
          <p:cNvSpPr txBox="1"/>
          <p:nvPr/>
        </p:nvSpPr>
        <p:spPr>
          <a:xfrm>
            <a:off x="1005840" y="4526280"/>
            <a:ext cx="4709160" cy="1005840"/>
          </a:xfrm>
          <a:prstGeom prst="rect">
            <a:avLst/>
          </a:prstGeom>
          <a:noFill/>
        </p:spPr>
        <p:txBody>
          <a:bodyPr wrap="square">
            <a:spAutoFit/>
          </a:bodyPr>
          <a:lstStyle/>
          <a:p>
            <a:pPr>
              <a:defRPr sz="1000">
                <a:solidFill>
                  <a:srgbClr val="64748B"/>
                </a:solidFill>
              </a:defRPr>
            </a:pPr>
            <a:r>
              <a:t>Comprehensive package breakdown: photo gallery, full day-by-day plan, agency credentials, and inclusion highlights.</a:t>
            </a:r>
          </a:p>
        </p:txBody>
      </p:sp>
      <p:sp>
        <p:nvSpPr>
          <p:cNvPr id="20" name="TextBox 19"/>
          <p:cNvSpPr txBox="1"/>
          <p:nvPr/>
        </p:nvSpPr>
        <p:spPr>
          <a:xfrm>
            <a:off x="1005840" y="5623560"/>
            <a:ext cx="4709160" cy="320040"/>
          </a:xfrm>
          <a:prstGeom prst="rect">
            <a:avLst/>
          </a:prstGeom>
          <a:noFill/>
        </p:spPr>
        <p:txBody>
          <a:bodyPr wrap="none">
            <a:spAutoFit/>
          </a:bodyPr>
          <a:lstStyle/>
          <a:p>
            <a:pPr>
              <a:defRPr sz="850" b="1">
                <a:solidFill>
                  <a:srgbClr val="F97316"/>
                </a:solidFill>
              </a:defRPr>
            </a:pPr>
            <a:r>
              <a:t>📍 Figma Frame: Package_Details_Modal</a:t>
            </a:r>
          </a:p>
        </p:txBody>
      </p:sp>
      <p:sp>
        <p:nvSpPr>
          <p:cNvPr id="21" name="Rounded Rectangle 20"/>
          <p:cNvSpPr/>
          <p:nvPr/>
        </p:nvSpPr>
        <p:spPr>
          <a:xfrm>
            <a:off x="6172200" y="393192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55080" y="4114800"/>
            <a:ext cx="489204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4133088"/>
            <a:ext cx="4709160" cy="256032"/>
          </a:xfrm>
          <a:prstGeom prst="rect">
            <a:avLst/>
          </a:prstGeom>
          <a:noFill/>
        </p:spPr>
        <p:txBody>
          <a:bodyPr wrap="none">
            <a:spAutoFit/>
          </a:bodyPr>
          <a:lstStyle/>
          <a:p>
            <a:pPr>
              <a:defRPr sz="1100" b="1">
                <a:solidFill>
                  <a:srgbClr val="0F172A"/>
                </a:solidFill>
              </a:defRPr>
            </a:pPr>
            <a:r>
              <a:t>4. Authoritative Booking Modal</a:t>
            </a:r>
          </a:p>
        </p:txBody>
      </p:sp>
      <p:sp>
        <p:nvSpPr>
          <p:cNvPr id="24" name="TextBox 23"/>
          <p:cNvSpPr txBox="1"/>
          <p:nvPr/>
        </p:nvSpPr>
        <p:spPr>
          <a:xfrm>
            <a:off x="6446520" y="4526280"/>
            <a:ext cx="4709160" cy="1005840"/>
          </a:xfrm>
          <a:prstGeom prst="rect">
            <a:avLst/>
          </a:prstGeom>
          <a:noFill/>
        </p:spPr>
        <p:txBody>
          <a:bodyPr wrap="square">
            <a:spAutoFit/>
          </a:bodyPr>
          <a:lstStyle/>
          <a:p>
            <a:pPr>
              <a:defRPr sz="1000">
                <a:solidFill>
                  <a:srgbClr val="64748B"/>
                </a:solidFill>
              </a:defRPr>
            </a:pPr>
            <a:r>
              <a:t>Streamlined checkout modal with live guest multiplier, payment strategy selection, and instant confirmation state.</a:t>
            </a:r>
          </a:p>
        </p:txBody>
      </p:sp>
      <p:sp>
        <p:nvSpPr>
          <p:cNvPr id="25" name="TextBox 24"/>
          <p:cNvSpPr txBox="1"/>
          <p:nvPr/>
        </p:nvSpPr>
        <p:spPr>
          <a:xfrm>
            <a:off x="6446520" y="5623560"/>
            <a:ext cx="4709160" cy="320040"/>
          </a:xfrm>
          <a:prstGeom prst="rect">
            <a:avLst/>
          </a:prstGeom>
          <a:noFill/>
        </p:spPr>
        <p:txBody>
          <a:bodyPr wrap="none">
            <a:spAutoFit/>
          </a:bodyPr>
          <a:lstStyle/>
          <a:p>
            <a:pPr>
              <a:defRPr sz="850" b="1">
                <a:solidFill>
                  <a:srgbClr val="F97316"/>
                </a:solidFill>
              </a:defRPr>
            </a:pPr>
            <a:r>
              <a:t>📍 Figma Frame: Booking_Transaction_Flow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08 / AGENCY &amp; ADMIN EXPERIENCE</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Management Interfaces Turn Travel Data into Action</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83080"/>
            <a:ext cx="4663440" cy="320040"/>
          </a:xfrm>
          <a:prstGeom prst="rect">
            <a:avLst/>
          </a:prstGeom>
          <a:noFill/>
        </p:spPr>
        <p:txBody>
          <a:bodyPr wrap="none">
            <a:spAutoFit/>
          </a:bodyPr>
          <a:lstStyle/>
          <a:p>
            <a:pPr>
              <a:defRPr sz="1100" b="1">
                <a:solidFill>
                  <a:srgbClr val="0284C7"/>
                </a:solidFill>
              </a:defRPr>
            </a:pPr>
            <a:r>
              <a:t>🏢 AGENCY PARTNER MANAGEMENT HUB</a:t>
            </a:r>
          </a:p>
        </p:txBody>
      </p:sp>
      <p:sp>
        <p:nvSpPr>
          <p:cNvPr id="8" name="TextBox 7"/>
          <p:cNvSpPr txBox="1"/>
          <p:nvPr/>
        </p:nvSpPr>
        <p:spPr>
          <a:xfrm>
            <a:off x="1005840" y="2240280"/>
            <a:ext cx="4663440" cy="868680"/>
          </a:xfrm>
          <a:prstGeom prst="rect">
            <a:avLst/>
          </a:prstGeom>
          <a:noFill/>
        </p:spPr>
        <p:txBody>
          <a:bodyPr wrap="square" lIns="0" tIns="0" rIns="0" bIns="0">
            <a:spAutoFit/>
          </a:bodyPr>
          <a:lstStyle/>
          <a:p>
            <a:pPr>
              <a:defRPr sz="1050" b="1">
                <a:solidFill>
                  <a:srgbClr val="0F172A"/>
                </a:solidFill>
              </a:defRPr>
            </a:pPr>
            <a:r>
              <a:t>•  Inventory CRUD Management</a:t>
            </a:r>
          </a:p>
          <a:p>
            <a:pPr>
              <a:spcBef>
                <a:spcPts val="200"/>
              </a:spcBef>
              <a:defRPr sz="950">
                <a:solidFill>
                  <a:srgbClr val="64748B"/>
                </a:solidFill>
              </a:defRPr>
            </a:pPr>
            <a:r>
              <a:t>Agencies create, edit, and publish tour and hotel listings with custom pricing, durations, and images.</a:t>
            </a:r>
          </a:p>
        </p:txBody>
      </p:sp>
      <p:sp>
        <p:nvSpPr>
          <p:cNvPr id="9" name="TextBox 8"/>
          <p:cNvSpPr txBox="1"/>
          <p:nvPr/>
        </p:nvSpPr>
        <p:spPr>
          <a:xfrm>
            <a:off x="1005840" y="3200400"/>
            <a:ext cx="4663440" cy="868680"/>
          </a:xfrm>
          <a:prstGeom prst="rect">
            <a:avLst/>
          </a:prstGeom>
          <a:noFill/>
        </p:spPr>
        <p:txBody>
          <a:bodyPr wrap="square" lIns="0" tIns="0" rIns="0" bIns="0">
            <a:spAutoFit/>
          </a:bodyPr>
          <a:lstStyle/>
          <a:p>
            <a:pPr>
              <a:defRPr sz="1050" b="1">
                <a:solidFill>
                  <a:srgbClr val="0F172A"/>
                </a:solidFill>
              </a:defRPr>
            </a:pPr>
            <a:r>
              <a:t>•  Booking Moderation Workflow</a:t>
            </a:r>
          </a:p>
          <a:p>
            <a:pPr>
              <a:spcBef>
                <a:spcPts val="200"/>
              </a:spcBef>
              <a:defRPr sz="950">
                <a:solidFill>
                  <a:srgbClr val="64748B"/>
                </a:solidFill>
              </a:defRPr>
            </a:pPr>
            <a:r>
              <a:t>Incoming customer reservation requests can be approved or rejected with real-time status chips.</a:t>
            </a:r>
          </a:p>
        </p:txBody>
      </p:sp>
      <p:sp>
        <p:nvSpPr>
          <p:cNvPr id="10" name="TextBox 9"/>
          <p:cNvSpPr txBox="1"/>
          <p:nvPr/>
        </p:nvSpPr>
        <p:spPr>
          <a:xfrm>
            <a:off x="1005840" y="4160520"/>
            <a:ext cx="4663440" cy="868680"/>
          </a:xfrm>
          <a:prstGeom prst="rect">
            <a:avLst/>
          </a:prstGeom>
          <a:noFill/>
        </p:spPr>
        <p:txBody>
          <a:bodyPr wrap="square" lIns="0" tIns="0" rIns="0" bIns="0">
            <a:spAutoFit/>
          </a:bodyPr>
          <a:lstStyle/>
          <a:p>
            <a:pPr>
              <a:defRPr sz="1050" b="1">
                <a:solidFill>
                  <a:srgbClr val="0F172A"/>
                </a:solidFill>
              </a:defRPr>
            </a:pPr>
            <a:r>
              <a:t>•  Verification Status Visibility</a:t>
            </a:r>
          </a:p>
          <a:p>
            <a:pPr>
              <a:spcBef>
                <a:spcPts val="200"/>
              </a:spcBef>
              <a:defRPr sz="950">
                <a:solidFill>
                  <a:srgbClr val="64748B"/>
                </a:solidFill>
              </a:defRPr>
            </a:pPr>
            <a:r>
              <a:t>Clear security indicator showing Verified vs. Pending agency accreditation.</a:t>
            </a:r>
          </a:p>
        </p:txBody>
      </p:sp>
      <p:sp>
        <p:nvSpPr>
          <p:cNvPr id="11" name="TextBox 10"/>
          <p:cNvSpPr txBox="1"/>
          <p:nvPr/>
        </p:nvSpPr>
        <p:spPr>
          <a:xfrm>
            <a:off x="1005840" y="5120640"/>
            <a:ext cx="4663440" cy="868680"/>
          </a:xfrm>
          <a:prstGeom prst="rect">
            <a:avLst/>
          </a:prstGeom>
          <a:noFill/>
        </p:spPr>
        <p:txBody>
          <a:bodyPr wrap="square" lIns="0" tIns="0" rIns="0" bIns="0">
            <a:spAutoFit/>
          </a:bodyPr>
          <a:lstStyle/>
          <a:p>
            <a:pPr>
              <a:defRPr sz="1050" b="1">
                <a:solidFill>
                  <a:srgbClr val="0F172A"/>
                </a:solidFill>
              </a:defRPr>
            </a:pPr>
            <a:r>
              <a:t>•  Revenue &amp; Ledger Overview</a:t>
            </a:r>
          </a:p>
          <a:p>
            <a:pPr>
              <a:spcBef>
                <a:spcPts val="200"/>
              </a:spcBef>
              <a:defRPr sz="950">
                <a:solidFill>
                  <a:srgbClr val="64748B"/>
                </a:solidFill>
              </a:defRPr>
            </a:pPr>
            <a:r>
              <a:t>At-a-glance summary cards showing active listings, total reservations, and estimated revenue.</a:t>
            </a:r>
          </a:p>
        </p:txBody>
      </p:sp>
      <p:sp>
        <p:nvSpPr>
          <p:cNvPr id="12" name="Rounded Rectangle 11"/>
          <p:cNvSpPr/>
          <p:nvPr/>
        </p:nvSpPr>
        <p:spPr>
          <a:xfrm>
            <a:off x="6248095"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22415" y="1783080"/>
            <a:ext cx="4663440" cy="320040"/>
          </a:xfrm>
          <a:prstGeom prst="rect">
            <a:avLst/>
          </a:prstGeom>
          <a:noFill/>
        </p:spPr>
        <p:txBody>
          <a:bodyPr wrap="none">
            <a:spAutoFit/>
          </a:bodyPr>
          <a:lstStyle/>
          <a:p>
            <a:pPr>
              <a:defRPr sz="1100" b="1">
                <a:solidFill>
                  <a:srgbClr val="0F172A"/>
                </a:solidFill>
              </a:defRPr>
            </a:pPr>
            <a:r>
              <a:t>🛡️ MASTER ADMINISTRATOR CONTROL SUITE</a:t>
            </a:r>
          </a:p>
        </p:txBody>
      </p:sp>
      <p:sp>
        <p:nvSpPr>
          <p:cNvPr id="14" name="TextBox 13"/>
          <p:cNvSpPr txBox="1"/>
          <p:nvPr/>
        </p:nvSpPr>
        <p:spPr>
          <a:xfrm>
            <a:off x="6522415" y="2240280"/>
            <a:ext cx="4663440" cy="868680"/>
          </a:xfrm>
          <a:prstGeom prst="rect">
            <a:avLst/>
          </a:prstGeom>
          <a:noFill/>
        </p:spPr>
        <p:txBody>
          <a:bodyPr wrap="square" lIns="0" tIns="0" rIns="0" bIns="0">
            <a:spAutoFit/>
          </a:bodyPr>
          <a:lstStyle/>
          <a:p>
            <a:pPr>
              <a:defRPr sz="1050" b="1">
                <a:solidFill>
                  <a:srgbClr val="0F172A"/>
                </a:solidFill>
              </a:defRPr>
            </a:pPr>
            <a:r>
              <a:t>•  Executive KPI Overview Cards</a:t>
            </a:r>
          </a:p>
          <a:p>
            <a:pPr>
              <a:spcBef>
                <a:spcPts val="200"/>
              </a:spcBef>
              <a:defRPr sz="950">
                <a:solidFill>
                  <a:srgbClr val="64748B"/>
                </a:solidFill>
              </a:defRPr>
            </a:pPr>
            <a:r>
              <a:t>Real-time metrics: Total Inventory, Verified Agencies, Active Bookings, and Total Platform Revenue.</a:t>
            </a:r>
          </a:p>
        </p:txBody>
      </p:sp>
      <p:sp>
        <p:nvSpPr>
          <p:cNvPr id="15" name="TextBox 14"/>
          <p:cNvSpPr txBox="1"/>
          <p:nvPr/>
        </p:nvSpPr>
        <p:spPr>
          <a:xfrm>
            <a:off x="6522415" y="3200400"/>
            <a:ext cx="4663440" cy="868680"/>
          </a:xfrm>
          <a:prstGeom prst="rect">
            <a:avLst/>
          </a:prstGeom>
          <a:noFill/>
        </p:spPr>
        <p:txBody>
          <a:bodyPr wrap="square" lIns="0" tIns="0" rIns="0" bIns="0">
            <a:spAutoFit/>
          </a:bodyPr>
          <a:lstStyle/>
          <a:p>
            <a:pPr>
              <a:defRPr sz="1050" b="1">
                <a:solidFill>
                  <a:srgbClr val="0F172A"/>
                </a:solidFill>
              </a:defRPr>
            </a:pPr>
            <a:r>
              <a:t>•  Master Inventory &amp; CSV Export</a:t>
            </a:r>
          </a:p>
          <a:p>
            <a:pPr>
              <a:spcBef>
                <a:spcPts val="200"/>
              </a:spcBef>
              <a:defRPr sz="950">
                <a:solidFill>
                  <a:srgbClr val="64748B"/>
                </a:solidFill>
              </a:defRPr>
            </a:pPr>
            <a:r>
              <a:t>Full tabular control over all marketplace listings with one-click Master CSV data export.</a:t>
            </a:r>
          </a:p>
        </p:txBody>
      </p:sp>
      <p:sp>
        <p:nvSpPr>
          <p:cNvPr id="16" name="TextBox 15"/>
          <p:cNvSpPr txBox="1"/>
          <p:nvPr/>
        </p:nvSpPr>
        <p:spPr>
          <a:xfrm>
            <a:off x="6522415" y="4160520"/>
            <a:ext cx="4663440" cy="868680"/>
          </a:xfrm>
          <a:prstGeom prst="rect">
            <a:avLst/>
          </a:prstGeom>
          <a:noFill/>
        </p:spPr>
        <p:txBody>
          <a:bodyPr wrap="square" lIns="0" tIns="0" rIns="0" bIns="0">
            <a:spAutoFit/>
          </a:bodyPr>
          <a:lstStyle/>
          <a:p>
            <a:pPr>
              <a:defRPr sz="1050" b="1">
                <a:solidFill>
                  <a:srgbClr val="0F172A"/>
                </a:solidFill>
              </a:defRPr>
            </a:pPr>
            <a:r>
              <a:t>•  Agency Moderation Queue</a:t>
            </a:r>
          </a:p>
          <a:p>
            <a:pPr>
              <a:spcBef>
                <a:spcPts val="200"/>
              </a:spcBef>
              <a:defRPr sz="950">
                <a:solidFill>
                  <a:srgbClr val="64748B"/>
                </a:solidFill>
              </a:defRPr>
            </a:pPr>
            <a:r>
              <a:t>One-click approval and revocation for partner onboarding with instant visual badges.</a:t>
            </a:r>
          </a:p>
        </p:txBody>
      </p:sp>
      <p:sp>
        <p:nvSpPr>
          <p:cNvPr id="17" name="TextBox 16"/>
          <p:cNvSpPr txBox="1"/>
          <p:nvPr/>
        </p:nvSpPr>
        <p:spPr>
          <a:xfrm>
            <a:off x="6522415" y="5120640"/>
            <a:ext cx="4663440" cy="868680"/>
          </a:xfrm>
          <a:prstGeom prst="rect">
            <a:avLst/>
          </a:prstGeom>
          <a:noFill/>
        </p:spPr>
        <p:txBody>
          <a:bodyPr wrap="square" lIns="0" tIns="0" rIns="0" bIns="0">
            <a:spAutoFit/>
          </a:bodyPr>
          <a:lstStyle/>
          <a:p>
            <a:pPr>
              <a:defRPr sz="1050" b="1">
                <a:solidFill>
                  <a:srgbClr val="0F172A"/>
                </a:solidFill>
              </a:defRPr>
            </a:pPr>
            <a:r>
              <a:t>•  User Directory &amp; Settings</a:t>
            </a:r>
          </a:p>
          <a:p>
            <a:pPr>
              <a:spcBef>
                <a:spcPts val="200"/>
              </a:spcBef>
              <a:defRPr sz="950">
                <a:solidFill>
                  <a:srgbClr val="64748B"/>
                </a:solidFill>
              </a:defRPr>
            </a:pPr>
            <a:r>
              <a:t>User role inspection and platform commission percentage configuration tools.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lIns="0" tIns="0" rIns="0" bIns="0">
            <a:spAutoFit/>
          </a:bodyPr>
          <a:lstStyle/>
          <a:p>
            <a:pPr>
              <a:defRPr sz="1000" b="1">
                <a:solidFill>
                  <a:srgbClr val="F97316"/>
                </a:solidFill>
                <a:latin typeface="Arial"/>
              </a:defRPr>
            </a:pPr>
            <a:r>
              <a:t>09 / RESPONSIVE DESIGN &amp; ACCESSIBILITY</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200" b="1">
                <a:solidFill>
                  <a:srgbClr val="0F172A"/>
                </a:solidFill>
                <a:latin typeface="Arial"/>
              </a:defRPr>
            </a:pPr>
            <a:r>
              <a:t>The Experience Remains Usable Across Devices</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3108960" cy="1737360"/>
          </a:xfrm>
          <a:prstGeom prst="rect">
            <a:avLst/>
          </a:prstGeom>
          <a:noFill/>
        </p:spPr>
        <p:txBody>
          <a:bodyPr wrap="square" lIns="0" tIns="0" rIns="0" bIns="0">
            <a:spAutoFit/>
          </a:bodyPr>
          <a:lstStyle/>
          <a:p>
            <a:pPr>
              <a:defRPr sz="1150" b="1">
                <a:solidFill>
                  <a:srgbClr val="0F172A"/>
                </a:solidFill>
              </a:defRPr>
            </a:pPr>
            <a:r>
              <a:t>Desktop (1360px+)</a:t>
            </a:r>
          </a:p>
          <a:p>
            <a:pPr>
              <a:spcBef>
                <a:spcPts val="600"/>
              </a:spcBef>
              <a:defRPr sz="950">
                <a:solidFill>
                  <a:srgbClr val="64748B"/>
                </a:solidFill>
              </a:defRPr>
            </a:pPr>
            <a:r>
              <a:t>Full expanded horizontal navigation, 3-4 column package grids, sticky sidebar filters, and expansive hero slider visuals.</a:t>
            </a:r>
          </a:p>
        </p:txBody>
      </p:sp>
      <p:sp>
        <p:nvSpPr>
          <p:cNvPr id="8" name="Rounded Rectangle 7"/>
          <p:cNvSpPr/>
          <p:nvPr/>
        </p:nvSpPr>
        <p:spPr>
          <a:xfrm>
            <a:off x="4343400" y="16002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783080"/>
            <a:ext cx="3108960" cy="1737360"/>
          </a:xfrm>
          <a:prstGeom prst="rect">
            <a:avLst/>
          </a:prstGeom>
          <a:noFill/>
        </p:spPr>
        <p:txBody>
          <a:bodyPr wrap="square" lIns="0" tIns="0" rIns="0" bIns="0">
            <a:spAutoFit/>
          </a:bodyPr>
          <a:lstStyle/>
          <a:p>
            <a:pPr>
              <a:defRPr sz="1150" b="1">
                <a:solidFill>
                  <a:srgbClr val="0284C7"/>
                </a:solidFill>
              </a:defRPr>
            </a:pPr>
            <a:r>
              <a:t>Tablet (768px – 992px)</a:t>
            </a:r>
          </a:p>
          <a:p>
            <a:pPr>
              <a:spcBef>
                <a:spcPts val="600"/>
              </a:spcBef>
              <a:defRPr sz="950">
                <a:solidFill>
                  <a:srgbClr val="64748B"/>
                </a:solidFill>
              </a:defRPr>
            </a:pPr>
            <a:r>
              <a:t>Fluid 2-column card layouts, collapsible search forms, responsive data tables with horizontal scroll containers.</a:t>
            </a:r>
          </a:p>
        </p:txBody>
      </p:sp>
      <p:sp>
        <p:nvSpPr>
          <p:cNvPr id="10" name="Rounded Rectangle 9"/>
          <p:cNvSpPr/>
          <p:nvPr/>
        </p:nvSpPr>
        <p:spPr>
          <a:xfrm>
            <a:off x="7955280" y="16002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783080"/>
            <a:ext cx="3108960" cy="1737360"/>
          </a:xfrm>
          <a:prstGeom prst="rect">
            <a:avLst/>
          </a:prstGeom>
          <a:noFill/>
        </p:spPr>
        <p:txBody>
          <a:bodyPr wrap="square" lIns="0" tIns="0" rIns="0" bIns="0">
            <a:spAutoFit/>
          </a:bodyPr>
          <a:lstStyle/>
          <a:p>
            <a:pPr>
              <a:defRPr sz="1150" b="1">
                <a:solidFill>
                  <a:srgbClr val="F97316"/>
                </a:solidFill>
              </a:defRPr>
            </a:pPr>
            <a:r>
              <a:t>Mobile (375px – 480px)</a:t>
            </a:r>
          </a:p>
          <a:p>
            <a:pPr>
              <a:spcBef>
                <a:spcPts val="600"/>
              </a:spcBef>
              <a:defRPr sz="950">
                <a:solidFill>
                  <a:srgbClr val="64748B"/>
                </a:solidFill>
              </a:defRPr>
            </a:pPr>
            <a:r>
              <a:t>Slide-in navigation drawer with backdrop blur, full-width touch cards, 44px+ minimum tap targets, and stacked checkout inputs.</a:t>
            </a:r>
          </a:p>
        </p:txBody>
      </p:sp>
      <p:sp>
        <p:nvSpPr>
          <p:cNvPr id="12" name="Rounded Rectangle 11"/>
          <p:cNvSpPr/>
          <p:nvPr/>
        </p:nvSpPr>
        <p:spPr>
          <a:xfrm>
            <a:off x="731520" y="3794760"/>
            <a:ext cx="1072865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931920"/>
            <a:ext cx="10058400" cy="320040"/>
          </a:xfrm>
          <a:prstGeom prst="rect">
            <a:avLst/>
          </a:prstGeom>
          <a:noFill/>
        </p:spPr>
        <p:txBody>
          <a:bodyPr wrap="none">
            <a:spAutoFit/>
          </a:bodyPr>
          <a:lstStyle/>
          <a:p>
            <a:pPr>
              <a:defRPr sz="1050" b="1">
                <a:solidFill>
                  <a:srgbClr val="10B981"/>
                </a:solidFill>
              </a:defRPr>
            </a:pPr>
            <a:r>
              <a:t>ACCESSIBILITY &amp; USABILITY STANDARDS (WCAG 2.1 GUIDELINES)</a:t>
            </a:r>
          </a:p>
        </p:txBody>
      </p:sp>
      <p:sp>
        <p:nvSpPr>
          <p:cNvPr id="14" name="TextBox 13"/>
          <p:cNvSpPr txBox="1"/>
          <p:nvPr/>
        </p:nvSpPr>
        <p:spPr>
          <a:xfrm>
            <a:off x="1005840" y="4343400"/>
            <a:ext cx="10058400" cy="384048"/>
          </a:xfrm>
          <a:prstGeom prst="rect">
            <a:avLst/>
          </a:prstGeom>
          <a:noFill/>
        </p:spPr>
        <p:txBody>
          <a:bodyPr wrap="square" lIns="0" tIns="0" rIns="0" bIns="0">
            <a:spAutoFit/>
          </a:bodyPr>
          <a:lstStyle/>
          <a:p>
            <a:pPr>
              <a:defRPr sz="950" b="1">
                <a:solidFill>
                  <a:srgbClr val="0F172A"/>
                </a:solidFill>
              </a:defRPr>
            </a:pPr>
            <a:r>
              <a:t>✓  High Contrast Ratios (WCAG AAA): </a:t>
            </a:r>
            <a:r>
              <a:rPr b="0">
                <a:solidFill>
                  <a:srgbClr val="64748B"/>
                </a:solidFill>
              </a:rPr>
              <a:t>Deep navy text (#0F172A) on white cards provides a contrast ratio exceeding 14:1 for effortless outdoor readability.</a:t>
            </a:r>
          </a:p>
        </p:txBody>
      </p:sp>
      <p:sp>
        <p:nvSpPr>
          <p:cNvPr id="15" name="TextBox 14"/>
          <p:cNvSpPr txBox="1"/>
          <p:nvPr/>
        </p:nvSpPr>
        <p:spPr>
          <a:xfrm>
            <a:off x="1005840" y="4764024"/>
            <a:ext cx="10058400" cy="384048"/>
          </a:xfrm>
          <a:prstGeom prst="rect">
            <a:avLst/>
          </a:prstGeom>
          <a:noFill/>
        </p:spPr>
        <p:txBody>
          <a:bodyPr wrap="square" lIns="0" tIns="0" rIns="0" bIns="0">
            <a:spAutoFit/>
          </a:bodyPr>
          <a:lstStyle/>
          <a:p>
            <a:pPr>
              <a:defRPr sz="950" b="1">
                <a:solidFill>
                  <a:srgbClr val="0F172A"/>
                </a:solidFill>
              </a:defRPr>
            </a:pPr>
            <a:r>
              <a:t>✓  Keyboard Focus States: </a:t>
            </a:r>
            <a:r>
              <a:rPr b="0">
                <a:solidFill>
                  <a:srgbClr val="64748B"/>
                </a:solidFill>
              </a:rPr>
              <a:t>Visible :focus-visible outlines (2px solid #F97316) on all buttons, links, and form fields ensure full keyboard navigation support.</a:t>
            </a:r>
          </a:p>
        </p:txBody>
      </p:sp>
      <p:sp>
        <p:nvSpPr>
          <p:cNvPr id="16" name="TextBox 15"/>
          <p:cNvSpPr txBox="1"/>
          <p:nvPr/>
        </p:nvSpPr>
        <p:spPr>
          <a:xfrm>
            <a:off x="1005840" y="5184648"/>
            <a:ext cx="10058400" cy="384048"/>
          </a:xfrm>
          <a:prstGeom prst="rect">
            <a:avLst/>
          </a:prstGeom>
          <a:noFill/>
        </p:spPr>
        <p:txBody>
          <a:bodyPr wrap="square" lIns="0" tIns="0" rIns="0" bIns="0">
            <a:spAutoFit/>
          </a:bodyPr>
          <a:lstStyle/>
          <a:p>
            <a:pPr>
              <a:defRPr sz="950" b="1">
                <a:solidFill>
                  <a:srgbClr val="0F172A"/>
                </a:solidFill>
              </a:defRPr>
            </a:pPr>
            <a:r>
              <a:t>✓  Semantic Hierarchy &amp; Touch Targets: </a:t>
            </a:r>
            <a:r>
              <a:rPr b="0">
                <a:solidFill>
                  <a:srgbClr val="64748B"/>
                </a:solidFill>
              </a:rPr>
              <a:t>All interactive buttons adhere to iOS/Android 44x44px minimum touch targets to prevent accidental taps on mobile devices.</a:t>
            </a:r>
          </a:p>
        </p:txBody>
      </p:sp>
      <p:sp>
        <p:nvSpPr>
          <p:cNvPr id="17" name="TextBox 16"/>
          <p:cNvSpPr txBox="1"/>
          <p:nvPr/>
        </p:nvSpPr>
        <p:spPr>
          <a:xfrm>
            <a:off x="1005840" y="5605272"/>
            <a:ext cx="10058400" cy="384048"/>
          </a:xfrm>
          <a:prstGeom prst="rect">
            <a:avLst/>
          </a:prstGeom>
          <a:noFill/>
        </p:spPr>
        <p:txBody>
          <a:bodyPr wrap="square" lIns="0" tIns="0" rIns="0" bIns="0">
            <a:spAutoFit/>
          </a:bodyPr>
          <a:lstStyle/>
          <a:p>
            <a:pPr>
              <a:defRPr sz="950" b="1">
                <a:solidFill>
                  <a:srgbClr val="0F172A"/>
                </a:solidFill>
              </a:defRPr>
            </a:pPr>
            <a:r>
              <a:t>✓  Screen Reader Compatibility: </a:t>
            </a:r>
            <a:r>
              <a:rPr b="0">
                <a:solidFill>
                  <a:srgbClr val="64748B"/>
                </a:solidFill>
              </a:rPr>
              <a:t>Every icon and brand mark includes descriptive ARIA labels (e.g. aria-label='SAFAR Travel Homepage') and alt tags.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afar-icon.png"/>
          <p:cNvPicPr>
            <a:picLocks noChangeAspect="1"/>
          </p:cNvPicPr>
          <p:nvPr/>
        </p:nvPicPr>
        <p:blipFill>
          <a:blip r:embed="rId3"/>
          <a:stretch>
            <a:fillRect/>
          </a:stretch>
        </p:blipFill>
        <p:spPr>
          <a:xfrm>
            <a:off x="914400" y="914400"/>
            <a:ext cx="777240" cy="896112"/>
          </a:xfrm>
          <a:prstGeom prst="rect">
            <a:avLst/>
          </a:prstGeom>
        </p:spPr>
      </p:pic>
      <p:sp>
        <p:nvSpPr>
          <p:cNvPr id="4" name="TextBox 3"/>
          <p:cNvSpPr txBox="1"/>
          <p:nvPr/>
        </p:nvSpPr>
        <p:spPr>
          <a:xfrm>
            <a:off x="1874519" y="914400"/>
            <a:ext cx="9144000" cy="914400"/>
          </a:xfrm>
          <a:prstGeom prst="rect">
            <a:avLst/>
          </a:prstGeom>
          <a:noFill/>
        </p:spPr>
        <p:txBody>
          <a:bodyPr wrap="square">
            <a:spAutoFit/>
          </a:bodyPr>
          <a:lstStyle/>
          <a:p>
            <a:pPr>
              <a:defRPr sz="2000" b="1">
                <a:solidFill>
                  <a:srgbClr val="FFFFFF"/>
                </a:solidFill>
              </a:defRPr>
            </a:pPr>
            <a:r>
              <a:t>SAFAR Turns Travel Discovery into a Structured Digital Experience</a:t>
            </a:r>
          </a:p>
        </p:txBody>
      </p:sp>
      <p:sp>
        <p:nvSpPr>
          <p:cNvPr id="5" name="Rounded Rectangle 4"/>
          <p:cNvSpPr/>
          <p:nvPr/>
        </p:nvSpPr>
        <p:spPr>
          <a:xfrm>
            <a:off x="914400" y="2011680"/>
            <a:ext cx="4983480" cy="1554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2194560"/>
            <a:ext cx="4526280" cy="1188720"/>
          </a:xfrm>
          <a:prstGeom prst="rect">
            <a:avLst/>
          </a:prstGeom>
          <a:noFill/>
        </p:spPr>
        <p:txBody>
          <a:bodyPr wrap="square" lIns="0" tIns="0" rIns="0" bIns="0">
            <a:spAutoFit/>
          </a:bodyPr>
          <a:lstStyle/>
          <a:p>
            <a:pPr>
              <a:defRPr sz="1150" b="1">
                <a:solidFill>
                  <a:srgbClr val="F97316"/>
                </a:solidFill>
              </a:defRPr>
            </a:pPr>
            <a:r>
              <a:t>★  Unified Brand Experience</a:t>
            </a:r>
          </a:p>
          <a:p>
            <a:pPr>
              <a:spcBef>
                <a:spcPts val="500"/>
              </a:spcBef>
              <a:defRPr sz="950">
                <a:solidFill>
                  <a:srgbClr val="CBD5E1"/>
                </a:solidFill>
              </a:defRPr>
            </a:pPr>
            <a:r>
              <a:t>A memorable, consistent visual identity balancing vibrant travel warmth (#F97316) with enterprise trust (#0F172A).</a:t>
            </a:r>
          </a:p>
        </p:txBody>
      </p:sp>
      <p:sp>
        <p:nvSpPr>
          <p:cNvPr id="7" name="Rounded Rectangle 6"/>
          <p:cNvSpPr/>
          <p:nvPr/>
        </p:nvSpPr>
        <p:spPr>
          <a:xfrm>
            <a:off x="6172200" y="2011680"/>
            <a:ext cx="4983480" cy="1554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2194560"/>
            <a:ext cx="4526280" cy="1188720"/>
          </a:xfrm>
          <a:prstGeom prst="rect">
            <a:avLst/>
          </a:prstGeom>
          <a:noFill/>
        </p:spPr>
        <p:txBody>
          <a:bodyPr wrap="square" lIns="0" tIns="0" rIns="0" bIns="0">
            <a:spAutoFit/>
          </a:bodyPr>
          <a:lstStyle/>
          <a:p>
            <a:pPr>
              <a:defRPr sz="1150" b="1">
                <a:solidFill>
                  <a:srgbClr val="10B981"/>
                </a:solidFill>
              </a:defRPr>
            </a:pPr>
            <a:r>
              <a:t>★  Frictionless User Journey</a:t>
            </a:r>
          </a:p>
          <a:p>
            <a:pPr>
              <a:spcBef>
                <a:spcPts val="500"/>
              </a:spcBef>
              <a:defRPr sz="950">
                <a:solidFill>
                  <a:srgbClr val="CBD5E1"/>
                </a:solidFill>
              </a:defRPr>
            </a:pPr>
            <a:r>
              <a:t>Progressive disclosure reduces cognitive friction from initial destination search to instant booking confirmation.</a:t>
            </a:r>
          </a:p>
        </p:txBody>
      </p:sp>
      <p:sp>
        <p:nvSpPr>
          <p:cNvPr id="9" name="Rounded Rectangle 8"/>
          <p:cNvSpPr/>
          <p:nvPr/>
        </p:nvSpPr>
        <p:spPr>
          <a:xfrm>
            <a:off x="914400" y="3749039"/>
            <a:ext cx="4983480" cy="1554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931919"/>
            <a:ext cx="4526280" cy="1188720"/>
          </a:xfrm>
          <a:prstGeom prst="rect">
            <a:avLst/>
          </a:prstGeom>
          <a:noFill/>
        </p:spPr>
        <p:txBody>
          <a:bodyPr wrap="square" lIns="0" tIns="0" rIns="0" bIns="0">
            <a:spAutoFit/>
          </a:bodyPr>
          <a:lstStyle/>
          <a:p>
            <a:pPr>
              <a:defRPr sz="1150" b="1">
                <a:solidFill>
                  <a:srgbClr val="0284C7"/>
                </a:solidFill>
              </a:defRPr>
            </a:pPr>
            <a:r>
              <a:t>★  Scalable Design Token System</a:t>
            </a:r>
          </a:p>
          <a:p>
            <a:pPr>
              <a:spcBef>
                <a:spcPts val="500"/>
              </a:spcBef>
              <a:defRPr sz="950">
                <a:solidFill>
                  <a:srgbClr val="CBD5E1"/>
                </a:solidFill>
              </a:defRPr>
            </a:pPr>
            <a:r>
              <a:t>Built modularly in Figma with reusable components, flexible Auto Layouts, and standardized typography styles.</a:t>
            </a:r>
          </a:p>
        </p:txBody>
      </p:sp>
      <p:sp>
        <p:nvSpPr>
          <p:cNvPr id="11" name="Rounded Rectangle 10"/>
          <p:cNvSpPr/>
          <p:nvPr/>
        </p:nvSpPr>
        <p:spPr>
          <a:xfrm>
            <a:off x="6172200" y="3749039"/>
            <a:ext cx="4983480" cy="1554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931919"/>
            <a:ext cx="4526280" cy="1188720"/>
          </a:xfrm>
          <a:prstGeom prst="rect">
            <a:avLst/>
          </a:prstGeom>
          <a:noFill/>
        </p:spPr>
        <p:txBody>
          <a:bodyPr wrap="square" lIns="0" tIns="0" rIns="0" bIns="0">
            <a:spAutoFit/>
          </a:bodyPr>
          <a:lstStyle/>
          <a:p>
            <a:pPr>
              <a:defRPr sz="1150" b="1">
                <a:solidFill>
                  <a:srgbClr val="FB923C"/>
                </a:solidFill>
              </a:defRPr>
            </a:pPr>
            <a:r>
              <a:t>★  Proposed Next Evaluation</a:t>
            </a:r>
          </a:p>
          <a:p>
            <a:pPr>
              <a:spcBef>
                <a:spcPts val="500"/>
              </a:spcBef>
              <a:defRPr sz="950">
                <a:solidFill>
                  <a:srgbClr val="CBD5E1"/>
                </a:solidFill>
              </a:defRPr>
            </a:pPr>
            <a:r>
              <a:t>Conduct moderated usability testing with 5-8 travelers and agencies to refine filter density and mobile checkout speed.</a:t>
            </a:r>
          </a:p>
        </p:txBody>
      </p:sp>
      <p:sp>
        <p:nvSpPr>
          <p:cNvPr id="13" name="Rounded Rectangle 12"/>
          <p:cNvSpPr/>
          <p:nvPr/>
        </p:nvSpPr>
        <p:spPr>
          <a:xfrm>
            <a:off x="914400" y="5486400"/>
            <a:ext cx="10241280" cy="822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596128"/>
            <a:ext cx="9875520" cy="276999"/>
          </a:xfrm>
          <a:prstGeom prst="rect">
            <a:avLst/>
          </a:prstGeom>
          <a:noFill/>
        </p:spPr>
        <p:txBody>
          <a:bodyPr wrap="square">
            <a:spAutoFit/>
          </a:bodyPr>
          <a:lstStyle/>
          <a:p>
            <a:pPr>
              <a:defRPr sz="1200" b="1">
                <a:solidFill>
                  <a:srgbClr val="FFFFFF"/>
                </a:solidFill>
              </a:defRPr>
            </a:pPr>
            <a:r>
              <a:rPr dirty="0"/>
              <a:t>Thank You for Your Time &amp; Evaluation!   |   Questions &amp; Feedback </a:t>
            </a:r>
            <a:r>
              <a:rPr dirty="0" smtClean="0"/>
              <a:t>Welcomed</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2134</Words>
  <Application>Microsoft Office PowerPoint</Application>
  <PresentationFormat>Widescreen</PresentationFormat>
  <Paragraphs>217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user</cp:lastModifiedBy>
  <cp:revision>2</cp:revision>
  <dcterms:created xsi:type="dcterms:W3CDTF">2013-01-27T09:14:16Z</dcterms:created>
  <dcterms:modified xsi:type="dcterms:W3CDTF">2026-08-30T11:27:03Z</dcterms:modified>
  <cp:category/>
</cp:coreProperties>
</file>