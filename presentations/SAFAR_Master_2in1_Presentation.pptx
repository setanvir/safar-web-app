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6"/>
    <p:sldId id="261" r:id="rId5"/>
    <p:sldId id="262" r:id="rId4"/>
    <p:sldId id="263" r:id="rId3"/>
    <p:sldId id="264" r:id="rId2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jpe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eg"/><Relationship Id="rId3" Type="http://schemas.openxmlformats.org/officeDocument/2006/relationships/image" Target="../media/image-2-2.jpeg"/><Relationship Id="rId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jpe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-1.jpeg"/><Relationship Id="rId3" Type="http://schemas.openxmlformats.org/officeDocument/2006/relationships/image" Target="../media/image-5-2.jpeg"/><Relationship Id="rId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jpeg"/><Relationship Id="rId3" Type="http://schemas.openxmlformats.org/officeDocument/2006/relationships/image" Target="../media/image-4-2.jpeg"/><Relationship Id="rId4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-1.jpe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1.jpe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jpeg"/><Relationship Id="rId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9-1.jpe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1071563"/>
            <a:ext cx="4772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4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&amp; TOURS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7225" y="1421606"/>
            <a:ext cx="4772025" cy="604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3600"/>
              </a:lnSpc>
              <a:buNone/>
            </a:pPr>
            <a:r>
              <a:rPr lang="en-US" sz="4750" b="1" spc="-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</a:t>
            </a:r>
            <a:endParaRPr lang="en-US" sz="4750" dirty="0"/>
          </a:p>
        </p:txBody>
      </p:sp>
      <p:sp>
        <p:nvSpPr>
          <p:cNvPr id="5" name="Text 2"/>
          <p:cNvSpPr/>
          <p:nvPr/>
        </p:nvSpPr>
        <p:spPr>
          <a:xfrm>
            <a:off x="657225" y="2526264"/>
            <a:ext cx="435768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for a Travel and Tour Booking Web 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7225" y="3640689"/>
            <a:ext cx="4772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Tanvir • </a:t>
            </a:r>
            <a:r>
              <a:rPr lang="en-US" sz="900" b="1" spc="1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232-134-001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01 /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One Platform for Discovering, Booking and Managing Travel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3977640" cy="9944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1510" y="1323594"/>
            <a:ext cx="54864" cy="7406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23594"/>
            <a:ext cx="3566160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Visual Travel Marketplace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SAFAR serves as a centralized digital marketplace for exploring curated holiday tours and luxury hotels worldwide with transparent pricing.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977640" cy="9944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1510" y="2455164"/>
            <a:ext cx="54864" cy="7406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55164"/>
            <a:ext cx="3566160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Two-Sided Connectivity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Connects independent travelers directly with verified travel agencies, eliminating communication friction and fragmented booking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3290"/>
            <a:ext cx="3977640" cy="9944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1510" y="3586734"/>
            <a:ext cx="54864" cy="7406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86734"/>
            <a:ext cx="3566160" cy="75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Role-Based Management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Tailored interfaces for Travelers (discovery &amp; booking), Agencies (package publishing &amp; requests), and Admins (governance &amp; moderation).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1200150"/>
            <a:ext cx="3863111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1371600"/>
            <a:ext cx="34290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SAFAR THREE-TIER ECOSYSTEM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748790"/>
            <a:ext cx="3429000" cy="7543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1817370"/>
            <a:ext cx="315468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👤 Traveler / Tourist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Explores destination packages • Checks real-time pricing • Books securely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606040"/>
            <a:ext cx="3429000" cy="7543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2674620"/>
            <a:ext cx="315468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🏢 Verified Travel Agency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Publishes tour &amp; hotel inventory • Moderates booking requests • Tracks earnings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463290"/>
            <a:ext cx="3429000" cy="7543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3531870"/>
            <a:ext cx="315468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🛡️ Platform Administrator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Controls global ledger • Verifies agencies • Governs commission &amp; master inventory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0492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HOMEPAGE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9801" y="385763"/>
            <a:ext cx="11669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SCREEN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71538"/>
            <a:ext cx="5857875" cy="38576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15113" y="900113"/>
            <a:ext cx="1787723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5"/>
          <p:cNvSpPr/>
          <p:nvPr/>
        </p:nvSpPr>
        <p:spPr>
          <a:xfrm>
            <a:off x="6615113" y="900113"/>
            <a:ext cx="1787723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→ SEARCH → BOOK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615113" y="1196578"/>
            <a:ext cx="2071688" cy="1107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9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turns discovery into a confident first step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15113" y="2525539"/>
            <a:ext cx="20716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with purpose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615113" y="2721992"/>
            <a:ext cx="2071688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“Discover Your Next Adventure” makes the product promise immediate and emotionally clear.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615113" y="3363367"/>
            <a:ext cx="20716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starting point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615113" y="3559820"/>
            <a:ext cx="2071688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Destination, dates, guests, and Search are grouped into a single booking-oriented panel.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615113" y="4201195"/>
            <a:ext cx="20716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becomes action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615113" y="4397648"/>
            <a:ext cx="2071688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packages continue the path with consistent “View Details” and “Book Now” actions.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02 /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Experience Must Reduce Booking Friction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39090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" y="1337310"/>
            <a:ext cx="34975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Arial"/>
              </a:defRPr>
            </a:pPr>
            <a:r>
              <a:t>CORE USER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8021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Information Overload: </a:t>
            </a:r>
            <a:r>
              <a:rPr b="0">
                <a:solidFill>
                  <a:srgbClr val="64748B"/>
                </a:solidFill>
              </a:rPr>
              <a:t>Travelers encounter dense, text-heavy listings without clear comparison metrics or transparent duration details.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40030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Unclear Booking Costs: </a:t>
            </a:r>
            <a:r>
              <a:rPr b="0">
                <a:solidFill>
                  <a:srgbClr val="64748B"/>
                </a:solidFill>
              </a:rPr>
              <a:t>Hidden surcharges and complex multi-step forms create high drop-off rates before transaction confirmation.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312039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Fragmented Agency Tools: </a:t>
            </a:r>
            <a:r>
              <a:rPr b="0">
                <a:solidFill>
                  <a:srgbClr val="64748B"/>
                </a:solidFill>
              </a:rPr>
              <a:t>Local travel agencies lack dedicated digital dashboards to update availability or manage booking statuses.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84048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Admin Governance Gap: </a:t>
            </a:r>
            <a:r>
              <a:rPr b="0">
                <a:solidFill>
                  <a:srgbClr val="64748B"/>
                </a:solidFill>
              </a:rPr>
              <a:t>Administrators require real-time visibility into transactions, verification queues, and inventory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071" y="1200150"/>
            <a:ext cx="39090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1811" y="1337310"/>
            <a:ext cx="34975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DESIGN OBJECTIVES &amp;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811" y="168021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Visual-First Discovery Engine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Implement high-impact card layouts with prominent imagery, duration tags, and location markers to guide choices.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1811" y="240030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Frictionless Modal Booking Flow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Streamline the checkout journey into a single modal with live price calculation and instant payment method selection.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1811" y="312039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Unified Design Token System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Establish consistent typography, button hierarchy, and color tokens across traveler, agency, and admin screens.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1811" y="384048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Predictable Management Hubs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Design purpose-built data tables, status badges, and quick-action filters for rapid agency and admin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03 / USERS &amp; 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Role-Based Structure Keeps Each Journey Focused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2606040" cy="13030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0302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Traveler (Tourist)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Seeks memorable holiday packages, fast date/guest filtering, and transparent booking confirmation without hidden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7550" y="1200150"/>
            <a:ext cx="2606040" cy="13030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4710" y="130302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Agency Partner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Needs frictionless inventory publication, real-time booking request moderation, and package CRUD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6460" y="1200150"/>
            <a:ext cx="2606040" cy="13030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3620" y="130302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Platform Administrator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Requires global system governance, verified partner onboarding, financial ledger tracking, and platform health stats.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40330"/>
            <a:ext cx="8046491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" y="2743200"/>
            <a:ext cx="75438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97316"/>
                </a:solidFill>
              </a:defRPr>
            </a:pPr>
            <a:r>
              <a:t>SAFAR SITE MAP &amp; INFORMATION ARCHITECTURE (IA)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" y="3051810"/>
            <a:ext cx="2468880" cy="140588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250" y="3120390"/>
            <a:ext cx="22631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1. Public &amp; Traveler Space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/ (Home: Hero Search &amp; Highlights)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/explore (All Packages &amp; Filters)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/tours &amp; /hotels (Categorized Catalog)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/package/:id (Itinerary &amp; Details)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/dashboard/traveler (Booking History)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0420" y="3051810"/>
            <a:ext cx="2468880" cy="140588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63290" y="3120390"/>
            <a:ext cx="22631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2. Agency Partner Hub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/dashboard/agency (Overview &amp; Stats)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Package Manager (Add / Edit / Delete)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Booking Requests (Approve / Reject)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Live Agency Verification Status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Revenue &amp; Commission Ledger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6459" y="3051810"/>
            <a:ext cx="2468880" cy="140588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9330" y="3120390"/>
            <a:ext cx="22631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3. Master Admin Control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/admin (Executive KPI Analytics)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Master Inventory Control &amp; CSV Export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Agency Verification &amp; Audit Log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Global User Roles &amp; Permissions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Platform Commission 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04 / USER FLOW &amp; PROGRESSIVE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Core Booking Flow Moves from Discovery to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26873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4410" y="1508760"/>
            <a:ext cx="377190" cy="37719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4410" y="1508760"/>
            <a:ext cx="377190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1988820"/>
            <a:ext cx="1131570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1. Land on Home</a:t>
            </a:r>
          </a:p>
          <a:p>
            <a:pPr algn="ctr"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Hero Search with Destination &amp; Date 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37944" y="2331720"/>
            <a:ext cx="61722" cy="12344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06524" y="1371600"/>
            <a:ext cx="126873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52294" y="1508760"/>
            <a:ext cx="377190" cy="37719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52294" y="1508760"/>
            <a:ext cx="377190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1988820"/>
            <a:ext cx="1131570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2. Explore Catalog</a:t>
            </a:r>
          </a:p>
          <a:p>
            <a:pPr algn="ctr"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Filter by Tour/Hotel, budget &amp; rating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95828" y="2331720"/>
            <a:ext cx="61722" cy="12344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64408" y="1371600"/>
            <a:ext cx="126873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10178" y="1508760"/>
            <a:ext cx="377190" cy="37719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178" y="1508760"/>
            <a:ext cx="377190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2988" y="1988820"/>
            <a:ext cx="1131570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3. Inspect Package</a:t>
            </a:r>
          </a:p>
          <a:p>
            <a:pPr algn="ctr"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Examine itinerary, amenities &amp; photos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553712" y="2331720"/>
            <a:ext cx="61722" cy="12344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22291" y="1371600"/>
            <a:ext cx="126873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68061" y="1508760"/>
            <a:ext cx="377190" cy="37719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68061" y="1508760"/>
            <a:ext cx="377190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1" y="1988820"/>
            <a:ext cx="1131570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4. Initiate Booking</a:t>
            </a:r>
          </a:p>
          <a:p>
            <a:pPr algn="ctr"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Modal appears with server-side price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11595" y="2331720"/>
            <a:ext cx="61722" cy="12344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80176" y="1371600"/>
            <a:ext cx="126873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25946" y="1508760"/>
            <a:ext cx="377190" cy="37719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5946" y="1508760"/>
            <a:ext cx="377190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8756" y="1988820"/>
            <a:ext cx="1131570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5. Choose Payment</a:t>
            </a:r>
          </a:p>
          <a:p>
            <a:pPr algn="ctr"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Select Card, Crypto, or Demo Wallet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269480" y="2331720"/>
            <a:ext cx="61722" cy="12344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38060" y="1371600"/>
            <a:ext cx="126873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83830" y="1508760"/>
            <a:ext cx="377190" cy="37719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83830" y="1508760"/>
            <a:ext cx="377190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1988820"/>
            <a:ext cx="1131570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6. Confirmation</a:t>
            </a:r>
          </a:p>
          <a:p>
            <a:pPr algn="ctr"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Instant status update &amp; live booking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737610"/>
            <a:ext cx="8046491" cy="92583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4380" y="3840480"/>
            <a:ext cx="76123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45309"/>
                </a:solidFill>
              </a:defRPr>
            </a:pPr>
            <a:r>
              <a:t>💡 UX DESIGN PRINCIPLE: PROGRESSIVE DISCLOSURE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The user flow follows progressive disclosure: high-level destination cards spark initial interest, detailed itineraries provide validation on demand, and checkout remains contained in a non-disruptive modal. Users never lose their browsing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05 / WIREFRAME TO HIGH-FIDELITY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Structure Was Validated Before Visual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39090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" y="1337310"/>
            <a:ext cx="349758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LOW-FIDELITY STRUCTURE (EARLY EXPLORATION)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8021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📐  Greyscale Grid Layout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Focused strictly on element hierarchy, card proportions (340px min-width), and search-bar placement without color bias.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40030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📐  Whitespace &amp; Scanning Patterns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Arranged headline, duration badges, and pricing tags using the F-shaped reading pattern for quick scannability.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312039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📐  Form Field Accessibility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Grouped Destination, Check In, Check Out, and Guests inputs into balanced horizontal slots with clear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84048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📐  Button Action Prominence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Identified primary call-to-action positions (Search, View Details, Reserve) before applying gradients or brand 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071" y="1200150"/>
            <a:ext cx="39090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1811" y="1337310"/>
            <a:ext cx="349758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HIGH-FIDELITY DESIGN TRANSITION (FIGMA)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811" y="168021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✨  SAFAR Brand Identity Integration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Applied the authentic crescent-plane brand mark and vibrant SAFAR Orange (#F97316) for emotional resonance.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1811" y="240030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✨  Rich Photographic Imagery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Curated high-resolution imagery for Ratargul, Maldives, Bali, and Paris to elevate perceived travel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1811" y="312039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✨  Glassmorphism &amp; Micro-Shadows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Implemented subtle multi-layered elevation (0 4px 20px rgba(0,0,0,0.06)) and frosted-glass navbar blurs.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1811" y="384048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✨  Polished Interactive States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Added distinct hover elevations, outline focus rings, and animated badges for real-time status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06 / DESIGN SYSTEM &amp; DESIGN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 Consistent Design System Makes SAFAR Feel Trustworthy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25374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37310"/>
            <a:ext cx="226314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COLOR TOKENS (FIGMA STYLES)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288036" cy="288036"/>
          </a:xfrm>
          <a:prstGeom prst="roundRect">
            <a:avLst/>
          </a:prstGeom>
          <a:solidFill>
            <a:srgbClr val="F9731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2990" y="1611630"/>
            <a:ext cx="18516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Primary Action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#F97316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12264"/>
            <a:ext cx="288036" cy="288036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2990" y="2077974"/>
            <a:ext cx="18516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Deep Slate (Text/Nav)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#0F172A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288036" cy="288036"/>
          </a:xfrm>
          <a:prstGeom prst="roundRect">
            <a:avLst/>
          </a:prstGeom>
          <a:solidFill>
            <a:srgbClr val="64748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2990" y="2544318"/>
            <a:ext cx="18516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Muted Secondary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#64748B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44951"/>
            <a:ext cx="288036" cy="288036"/>
          </a:xfrm>
          <a:prstGeom prst="roundRect">
            <a:avLst/>
          </a:prstGeom>
          <a:solidFill>
            <a:srgbClr val="10B981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2990" y="3010661"/>
            <a:ext cx="18516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Success / Approved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#10B981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11296"/>
            <a:ext cx="288036" cy="288036"/>
          </a:xfrm>
          <a:prstGeom prst="roundRect">
            <a:avLst/>
          </a:prstGeom>
          <a:solidFill>
            <a:srgbClr val="E11D4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2990" y="3477006"/>
            <a:ext cx="18516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Danger / Cancel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#E11D48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77640"/>
            <a:ext cx="288036" cy="288036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2990" y="3943350"/>
            <a:ext cx="18516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Surface Light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#F8FAFC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200150"/>
            <a:ext cx="25374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1337310"/>
            <a:ext cx="226314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TYPOGRAPHY SCALE (INTER)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645920"/>
            <a:ext cx="22631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Display Title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36px / Bold 800 • Hero Headlines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208276"/>
            <a:ext cx="22631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Section Heading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24px / Bold 700 • Category &amp; Section Titles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70632"/>
            <a:ext cx="22631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Card Title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18px / SemiBold 600 • Package &amp; Hotel Titles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332987"/>
            <a:ext cx="22631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Body Text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15px / Regular 400 • Descriptions &amp;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895344"/>
            <a:ext cx="22631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Caption / Badge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12px / Medium 500 • Status &amp; Duration Tags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200150"/>
            <a:ext cx="2560091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1337310"/>
            <a:ext cx="226314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UI COMPONENT VARIANTS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645920"/>
            <a:ext cx="2263140" cy="288036"/>
          </a:xfrm>
          <a:prstGeom prst="roundRect">
            <a:avLst/>
          </a:prstGeom>
          <a:solidFill>
            <a:srgbClr val="F9731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1673352"/>
            <a:ext cx="226314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Primary Action Button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1954530"/>
            <a:ext cx="22631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Filled SAFAR Orange with soft elevation (#F97316)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366010"/>
            <a:ext cx="2263140" cy="2880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2393442"/>
            <a:ext cx="226314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Secondary Outline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674620"/>
            <a:ext cx="22631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Clean 1.5px border with primary hover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086100"/>
            <a:ext cx="2263140" cy="288036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3113532"/>
            <a:ext cx="226314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11D48"/>
                </a:solidFill>
              </a:defRPr>
            </a:pPr>
            <a:r>
              <a:t>Danger / Cancel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394710"/>
            <a:ext cx="22631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Muted red background with dark red text (#E11D48)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806190"/>
            <a:ext cx="2263140" cy="28803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3833622"/>
            <a:ext cx="226314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Status Badges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114800"/>
            <a:ext cx="22631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Approved (Green), Pending (Amber), Rejected (Red)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14338"/>
            <a:ext cx="81153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4350" y="657225"/>
            <a:ext cx="81153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414338"/>
            <a:ext cx="15882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VISUAL LANGUAGE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468177" y="414338"/>
            <a:ext cx="116147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F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SYSTEM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14350" y="1071563"/>
            <a:ext cx="2786063" cy="198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2750" b="1" spc="-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system balances travel energy with booking clarity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514350" y="3572489"/>
            <a:ext cx="2357438" cy="983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uses a small, repeatable palette and a clear hierarchy so destination imagery can stay expressive while booking controls remain easy to read.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00475" y="1221581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actions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00475" y="1485900"/>
            <a:ext cx="2264569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buttons create a recognizable call-to-action rhythm from Search to Book Now.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65081" y="1221581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Dependable type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65081" y="1485900"/>
            <a:ext cx="2264569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 headings and dark body text support legibility against light surfaces.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00475" y="2963987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status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00475" y="3228305"/>
            <a:ext cx="2264569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badges and chips add a light travel accent for availability and listing types.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65081" y="2963987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context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65081" y="3228305"/>
            <a:ext cx="2264569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destination photography provides the feeling; structured controls provide the confidence.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07 / KEY TRAVELER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Visual Discovery Leads to Confident Booking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3943350" cy="16116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37310"/>
            <a:ext cx="366903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" y="1351026"/>
            <a:ext cx="353187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1. Landing &amp; Hero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1645920"/>
            <a:ext cx="353187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Prominent 4-parameter search box (Destination, Check-In, Check-Out, Guests) with quick filter pills for instant discovery.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468880"/>
            <a:ext cx="353187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97316"/>
                </a:solidFill>
              </a:defRPr>
            </a:pPr>
            <a:r>
              <a:t>📍 Figma Frame: Desktop_Landing_Hero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9150" y="1200150"/>
            <a:ext cx="3943350" cy="16116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66310" y="1337310"/>
            <a:ext cx="366903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34890" y="1351026"/>
            <a:ext cx="353187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2. Curated Explore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4890" y="1645920"/>
            <a:ext cx="353187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Interactive grid displaying Tour Packages and Luxury Hotels with duration tags, ratings, and instant price badges.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4890" y="2468880"/>
            <a:ext cx="353187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97316"/>
                </a:solidFill>
              </a:defRPr>
            </a:pPr>
            <a:r>
              <a:t>📍 Figma Frame: Explore_Catalog_Grid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48940"/>
            <a:ext cx="3943350" cy="16116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3086100"/>
            <a:ext cx="366903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" y="3099816"/>
            <a:ext cx="353187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3. Detailed Itinerary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" y="3394710"/>
            <a:ext cx="353187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Comprehensive package breakdown: photo gallery, full day-by-day plan, agency credentials, and inclusion highlights.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4217670"/>
            <a:ext cx="353187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97316"/>
                </a:solidFill>
              </a:defRPr>
            </a:pPr>
            <a:r>
              <a:t>📍 Figma Frame: Package_Details_Modal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29150" y="2948940"/>
            <a:ext cx="3943350" cy="16116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66310" y="3086100"/>
            <a:ext cx="366903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34890" y="3099816"/>
            <a:ext cx="353187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4. Authoritative Booking Modal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4890" y="3394710"/>
            <a:ext cx="353187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Streamlined checkout modal with live guest multiplier, payment strategy selection, and instant confirmation 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4890" y="4217670"/>
            <a:ext cx="353187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97316"/>
                </a:solidFill>
              </a:defRPr>
            </a:pPr>
            <a:r>
              <a:t>📍 Figma Frame: Booking_Transaction_Flow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5641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PACKAGE DETAILS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9801" y="385763"/>
            <a:ext cx="11669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SCREEN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85800"/>
            <a:ext cx="5286375" cy="37147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86475" y="714375"/>
            <a:ext cx="1672140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5"/>
          <p:cNvSpPr/>
          <p:nvPr/>
        </p:nvSpPr>
        <p:spPr>
          <a:xfrm>
            <a:off x="6086475" y="714375"/>
            <a:ext cx="1672140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→ PRICE → CONVERT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086475" y="1010841"/>
            <a:ext cx="2600325" cy="8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8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details convert interest into a transparent decision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086475" y="2099481"/>
            <a:ext cx="2600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cues at the point of intent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086475" y="2295934"/>
            <a:ext cx="2600325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Provider, Free Cancellation, and 24/7 Support are placed directly below the description to reduce booking hesitation.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086475" y="2844440"/>
            <a:ext cx="895313" cy="21074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86475" y="2844440"/>
            <a:ext cx="895313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Provider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7024650" y="2844440"/>
            <a:ext cx="931311" cy="21074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24650" y="2844440"/>
            <a:ext cx="931311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Cancellation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6086475" y="3098043"/>
            <a:ext cx="719677" cy="21074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6475" y="3098043"/>
            <a:ext cx="719677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Support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6086475" y="3530240"/>
            <a:ext cx="2600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transparency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86475" y="3726693"/>
            <a:ext cx="2600325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right-side booking panel keeps traveler count, base price, and total price visible together at all times.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086475" y="4425218"/>
            <a:ext cx="2600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next step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086475" y="4621671"/>
            <a:ext cx="2600325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“Log In to Book” action makes the next requirement unmistakable without hiding cost information.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59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EXPLORE &amp; FILTER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9801" y="385763"/>
            <a:ext cx="11669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SCREEN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71538"/>
            <a:ext cx="5572125" cy="37147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72225" y="900113"/>
            <a:ext cx="1447056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5"/>
          <p:cNvSpPr/>
          <p:nvPr/>
        </p:nvSpPr>
        <p:spPr>
          <a:xfrm>
            <a:off x="6372225" y="900113"/>
            <a:ext cx="1447056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MANAGEMENT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372225" y="1196578"/>
            <a:ext cx="2314575" cy="855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9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makes a large catalog feel easy to scan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372225" y="2301683"/>
            <a:ext cx="23145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filtering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372225" y="2505280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type, location, and price range filters allow users to narrow 30+ destinations instantly.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372225" y="3221050"/>
            <a:ext cx="23145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patterns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372225" y="3424647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two-column grid uses a consistent card hierarchy, making comparison intuitive and fast.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372225" y="4140417"/>
            <a:ext cx="23145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intent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372225" y="4344014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“View Details” and “Book Now” buttons distinguish research from final commitment.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08 / AGENCY &amp; ADMIN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Management Interfaces Turn Travel Data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39090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" y="1337310"/>
            <a:ext cx="349758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🏢 AGENCY PARTNER MANAGEMENT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8021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Inventory CRUD Management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Agencies create, edit, and publish tour and hotel listings with custom pricing, durations, and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40030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Booking Moderation Workflow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Incoming customer reservation requests can be approved or rejected with real-time status chips.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312039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Verification Status Visibility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Clear security indicator showing Verified vs. Pending agency accreditation.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84048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Revenue &amp; Ledger Overview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At-a-glance summary cards showing active listings, total reservations, and estimated revenue.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071" y="1200150"/>
            <a:ext cx="39090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1811" y="1337310"/>
            <a:ext cx="349758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🛡️ MASTER ADMINISTRATOR CONTROL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811" y="168021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Executive KPI Overview Cards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Real-time metrics: Total Inventory, Verified Agencies, Active Bookings, and Total Platform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1811" y="240030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Master Inventory &amp; CSV Export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Full tabular control over all marketplace listings with one-click Master CSV data export.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1811" y="312039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Agency Moderation Queue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One-click approval and revocation for partner onboarding with instant visual badges.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1811" y="3840480"/>
            <a:ext cx="3497580" cy="651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•  User Directory &amp; Settings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User role inspection and platform commission percentage configuration tools.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4362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USER JOURNEYS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697725" y="385763"/>
            <a:ext cx="9890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CONTINUITY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57200" y="871538"/>
            <a:ext cx="1440805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871538"/>
            <a:ext cx="1440805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ARCHITECTURE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57200" y="1139428"/>
            <a:ext cx="8229600" cy="285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9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brand language supports multiple user journeys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57200" y="1767353"/>
            <a:ext cx="4000500" cy="1771650"/>
          </a:xfrm>
          <a:prstGeom prst="rect">
            <a:avLst/>
          </a:prstGeom>
          <a:solidFill>
            <a:srgbClr val="FFFFFF"/>
          </a:solidFill>
          <a:ln w="18288">
            <a:solidFill>
              <a:srgbClr val="0A192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67353"/>
            <a:ext cx="4000500" cy="1714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3703309"/>
            <a:ext cx="40005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Discovery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3914049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Travelers move from discovery to exploration using a consistent header, navigation, and card-based interaction model.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86300" y="1767353"/>
            <a:ext cx="4000500" cy="1771650"/>
          </a:xfrm>
          <a:prstGeom prst="rect">
            <a:avLst/>
          </a:prstGeom>
          <a:solidFill>
            <a:srgbClr val="FFFFFF"/>
          </a:solidFill>
          <a:ln w="18288">
            <a:solidFill>
              <a:srgbClr val="0A192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767353"/>
            <a:ext cx="4000500" cy="1714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6300" y="3703309"/>
            <a:ext cx="40005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Portals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686300" y="3914049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visual system extends to Agency and Admin portals, ensuring a professional and familiar management experience.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14338"/>
            <a:ext cx="81153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4350" y="657225"/>
            <a:ext cx="81153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414338"/>
            <a:ext cx="12413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UX STRATEGY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31187" y="414338"/>
            <a:ext cx="10984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F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FLOW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14350" y="957263"/>
            <a:ext cx="64293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spc="-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SAFAR’s strongest UX choice is progressive disclosure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42913" y="1883048"/>
            <a:ext cx="508546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35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8" y="2183085"/>
            <a:ext cx="2428875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" y="3768998"/>
            <a:ext cx="2514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4350" y="4051176"/>
            <a:ext cx="2514600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homepage presents only the essential first decision: where and when to travel, reducing initial cognitive load.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43263" y="1883048"/>
            <a:ext cx="508546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35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988" y="2183085"/>
            <a:ext cx="2428875" cy="1428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3768998"/>
            <a:ext cx="2514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051176"/>
            <a:ext cx="2514600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adds refinement and comparison tools only when the user is ready to evaluate specific options.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043613" y="1883048"/>
            <a:ext cx="508546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35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338" y="2183085"/>
            <a:ext cx="2428875" cy="1428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15050" y="3768998"/>
            <a:ext cx="2514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115050" y="4051176"/>
            <a:ext cx="2514600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details reveal deeper trust signals, exact pricing, and booking forms at the moment of high intent.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8610"/>
            <a:ext cx="685800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09 / RESPONSIVE DESIGN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4350"/>
            <a:ext cx="7886700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Experience Remains Usable Across Devices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94410"/>
            <a:ext cx="8046491" cy="102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20015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37310"/>
            <a:ext cx="2331720" cy="1303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Desktop (1360px+)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Full expanded horizontal navigation, 3-4 column package grids, sticky sidebar filters, and expansive hero slider visuals.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7550" y="120015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4710" y="1337310"/>
            <a:ext cx="2331720" cy="1303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Tablet (768px – 992px)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Fluid 2-column card layouts, collapsible search forms, responsive data tables with horizontal scroll containers.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6460" y="120015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3620" y="1337310"/>
            <a:ext cx="2331720" cy="1303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97316"/>
                </a:solidFill>
              </a:defRPr>
            </a:pPr>
            <a:r>
              <a:t>Mobile (375px – 480px)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Slide-in navigation drawer with backdrop blur, full-width touch cards, 44px+ minimum tap targets, and stacked checkout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46070"/>
            <a:ext cx="8046491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" y="2948940"/>
            <a:ext cx="75438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ACCESSIBILITY &amp; USABILITY STANDARDS (WCAG 2.1 GUIDELINES)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3257550"/>
            <a:ext cx="7543800" cy="2880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✓  High Contrast Ratios (WCAG AAA): </a:t>
            </a:r>
            <a:r>
              <a:rPr b="0">
                <a:solidFill>
                  <a:srgbClr val="64748B"/>
                </a:solidFill>
              </a:rPr>
              <a:t>Deep navy text (#0F172A) on white cards provides a contrast ratio exceeding 14:1 for effortless outdoor readability.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" y="3573018"/>
            <a:ext cx="7543800" cy="2880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✓  Keyboard Focus States: </a:t>
            </a:r>
            <a:r>
              <a:rPr b="0">
                <a:solidFill>
                  <a:srgbClr val="64748B"/>
                </a:solidFill>
              </a:rPr>
              <a:t>Visible :focus-visible outlines (2px solid #F97316) on all buttons, links, and form fields ensure full keyboard navigation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" y="3888486"/>
            <a:ext cx="7543800" cy="2880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✓  Semantic Hierarchy &amp; Touch Targets: </a:t>
            </a:r>
            <a:r>
              <a:rPr b="0">
                <a:solidFill>
                  <a:srgbClr val="64748B"/>
                </a:solidFill>
              </a:rPr>
              <a:t>All interactive buttons adhere to iOS/Android 44x44px minimum touch targets to prevent accidental taps on mobile devices.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" y="4203954"/>
            <a:ext cx="7543800" cy="2880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✓  Screen Reader Compatibility: </a:t>
            </a:r>
            <a:r>
              <a:rPr b="0">
                <a:solidFill>
                  <a:srgbClr val="64748B"/>
                </a:solidFill>
              </a:rPr>
              <a:t>Every icon and brand mark includes descriptive ARIA labels (e.g. aria-label='SAFAR Travel Homepage') and alt tags.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2893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703659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41937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3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CONCLUSION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202742" y="428625"/>
            <a:ext cx="136975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F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FOUNDATION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060847"/>
            <a:ext cx="1512243" cy="29289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060847"/>
            <a:ext cx="1512243" cy="292894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SCALE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1639491"/>
            <a:ext cx="3214688" cy="1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spc="-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foundation for a travel marketplace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71500" y="3079570"/>
            <a:ext cx="321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establishes a coherent visual identity that bridges the gap between Figma design and functional implementation.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57688" y="1239441"/>
            <a:ext cx="42148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 IDENTITY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57688" y="1507331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visual language across discovery, comparison, and booking ensures a seamless user experience and brand trust.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57688" y="2286000"/>
            <a:ext cx="42148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ARCHITECTURE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57688" y="2553891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system is built to support richer filters, authenticated traveler profiles, and diverse listing types without friction.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57688" y="3332559"/>
            <a:ext cx="42148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READINESS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57688" y="3600450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portals for Agencies and Admins provide the necessary infrastructure for a multi-sided marketplace growth.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" y="4743450"/>
            <a:ext cx="24623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0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UI/UX Design Presentation • Mohammed Tanvir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afar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582930" cy="6720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5889" y="6858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SAFAR Turns Travel Discovery into a Structured Digital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737610" cy="11658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1645920"/>
            <a:ext cx="3394710" cy="891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97316"/>
                </a:solidFill>
              </a:defRPr>
            </a:pPr>
            <a:r>
              <a:t>★  Unified Brand Experience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A memorable, consistent visual identity balancing vibrant travel warmth (#F97316) with enterprise trust (#0F172A).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9150" y="1508760"/>
            <a:ext cx="3737610" cy="11658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645920"/>
            <a:ext cx="3394710" cy="891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★  Frictionless User Journey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Progressive disclosure reduces cognitive friction from initial destination search to instant booking confirmation.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11779"/>
            <a:ext cx="3737610" cy="11658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7250" y="2948939"/>
            <a:ext cx="3394710" cy="891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★  Scalable Design Token System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Built modularly in Figma with reusable components, flexible Auto Layouts, and standardized typography styles.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9150" y="2811779"/>
            <a:ext cx="3737610" cy="11658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948939"/>
            <a:ext cx="3394710" cy="891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B923C"/>
                </a:solidFill>
              </a:defRPr>
            </a:pPr>
            <a:r>
              <a:t>★  Proposed Next Evaluation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Conduct moderated usability testing with 5-8 travelers and agencies to refine filter density and mobile checkout speed.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7680960" cy="6172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197096"/>
            <a:ext cx="74066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Thank You for Your Time &amp; Evaluation!   |   Questions &amp; Feedback </a:t>
            </a:r>
            <a:r>
              <a:rPr dirty="0" smtClean="0"/>
              <a:t>Welcomed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22682" y="1276945"/>
            <a:ext cx="6985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5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2760669" y="1580555"/>
            <a:ext cx="3622607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700" b="1" spc="-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3346121" y="2995017"/>
            <a:ext cx="245175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with confidence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65897" y="3687961"/>
            <a:ext cx="301220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Tanvir</a:t>
            </a:r>
            <a:r>
              <a:rPr lang="en-US" sz="1150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100" b="1" spc="1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232-134-001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2026-08-30T11:19:41Z</dcterms:created>
  <dcterms:modified xsi:type="dcterms:W3CDTF">2026-08-30T11:19:41Z</dcterms:modified>
</cp:coreProperties>
</file>